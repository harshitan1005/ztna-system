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66" r:id="rId4"/>
    <p:sldId id="258" r:id="rId5"/>
    <p:sldId id="259" r:id="rId6"/>
    <p:sldId id="260" r:id="rId7"/>
    <p:sldId id="261" r:id="rId8"/>
    <p:sldId id="262" r:id="rId9"/>
    <p:sldId id="263" r:id="rId10"/>
    <p:sldId id="264" r:id="rId11"/>
    <p:sldId id="271" r:id="rId12"/>
    <p:sldId id="278" r:id="rId13"/>
    <p:sldId id="272" r:id="rId14"/>
    <p:sldId id="276" r:id="rId15"/>
    <p:sldId id="280" r:id="rId16"/>
    <p:sldId id="282" r:id="rId17"/>
    <p:sldId id="281" r:id="rId18"/>
    <p:sldId id="283" r:id="rId19"/>
    <p:sldId id="268" r:id="rId20"/>
    <p:sldId id="26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1" d="100"/>
          <a:sy n="91" d="100"/>
        </p:scale>
        <p:origin x="38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LATHA REDDY" userId="b3f282fb9196c065" providerId="LiveId" clId="{EB74B9DD-BBDF-43F0-872B-8FA23E4D3216}"/>
    <pc:docChg chg="delSld">
      <pc:chgData name="MADHULATHA REDDY" userId="b3f282fb9196c065" providerId="LiveId" clId="{EB74B9DD-BBDF-43F0-872B-8FA23E4D3216}" dt="2026-03-13T07:21:21.454" v="0" actId="47"/>
      <pc:docMkLst>
        <pc:docMk/>
      </pc:docMkLst>
      <pc:sldChg chg="del">
        <pc:chgData name="MADHULATHA REDDY" userId="b3f282fb9196c065" providerId="LiveId" clId="{EB74B9DD-BBDF-43F0-872B-8FA23E4D3216}" dt="2026-03-13T07:21:21.454" v="0" actId="47"/>
        <pc:sldMkLst>
          <pc:docMk/>
          <pc:sldMk cId="0"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DFD278-53E2-403E-A1E4-21C55C41A057}" type="datetimeFigureOut">
              <a:rPr lang="en-US" smtClean="0"/>
              <a:pPr/>
              <a:t>3/13/2026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68C3AB-3B22-413A-B9C9-31C2E93D0E92}" type="slidenum">
              <a:rPr lang="en-US" smtClean="0"/>
              <a:pPr/>
              <a:t>‹#›</a:t>
            </a:fld>
            <a:endParaRPr lang="en-US"/>
          </a:p>
        </p:txBody>
      </p:sp>
    </p:spTree>
    <p:extLst>
      <p:ext uri="{BB962C8B-B14F-4D97-AF65-F5344CB8AC3E}">
        <p14:creationId xmlns:p14="http://schemas.microsoft.com/office/powerpoint/2010/main" val="20924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168C3AB-3B22-413A-B9C9-31C2E93D0E92}"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F78F638-AE3E-46F2-9674-A9EE9C80460E}" type="datetime1">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7AADE6-C474-4947-8A4B-ACC4D811EEFE}" type="datetime1">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E5B6D3-83A2-460B-B518-5BE3B6DBD355}" type="datetime1">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4935B4-B416-4FCD-BFFF-9B57005E394F}" type="datetime1">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A13AA7C-7423-4681-8E1E-41D63EA0A53F}" type="datetime1">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4C9523-BFC1-4992-A5CB-DA040BA03175}" type="datetime1">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CBDE4B-F861-40EE-AFBF-594F8B6808A2}" type="datetime1">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CFC7F6-DACD-47AF-AB5E-4549588E8EDD}" type="datetime1">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E27995-9B0E-4A3F-B61E-3A28B981A835}" type="datetime1">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78DE74-1ADA-4D9F-A58C-7AD6FC82A208}" type="datetime1">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8326F3-4077-48EB-923D-087ABA819035}" type="datetime1">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7CE889-295D-4080-B60B-05BD61E50B53}" type="datetime1">
              <a:rPr lang="en-US" smtClean="0"/>
              <a:pPr/>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hyperlink" Target="https://doi.org/10.1109/TDSC.2023.3264920" TargetMode="External"/><Relationship Id="rId3" Type="http://schemas.openxmlformats.org/officeDocument/2006/relationships/hyperlink" Target="https://doi.org/10.6028/NIST.SP.800-207" TargetMode="External"/><Relationship Id="rId7" Type="http://schemas.openxmlformats.org/officeDocument/2006/relationships/hyperlink" Target="https://doi.org/10.1016/j.future.2021.12.004"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doi.org/10.1109/ACCESS.2016.2566339" TargetMode="External"/><Relationship Id="rId5" Type="http://schemas.openxmlformats.org/officeDocument/2006/relationships/hyperlink" Target="https://doi.org/10.1109/COMST.2021.3054841" TargetMode="External"/><Relationship Id="rId4" Type="http://schemas.openxmlformats.org/officeDocument/2006/relationships/hyperlink" Target="https://ethereum.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509559" y="152400"/>
            <a:ext cx="3482043" cy="461665"/>
          </a:xfrm>
          <a:prstGeom prst="rect">
            <a:avLst/>
          </a:prstGeom>
        </p:spPr>
        <p:txBody>
          <a:bodyPr wrap="none">
            <a:spAutoFit/>
          </a:bodyPr>
          <a:lstStyle/>
          <a:p>
            <a:pPr algn="r"/>
            <a:r>
              <a:rPr lang="en-US" sz="2400" dirty="0">
                <a:latin typeface="Times New Roman" pitchFamily="18" charset="0"/>
                <a:cs typeface="Times New Roman" pitchFamily="18" charset="0"/>
              </a:rPr>
              <a:t>Major Project Review - V</a:t>
            </a:r>
          </a:p>
        </p:txBody>
      </p:sp>
      <p:sp>
        <p:nvSpPr>
          <p:cNvPr id="6" name="Rectangle 5"/>
          <p:cNvSpPr/>
          <p:nvPr/>
        </p:nvSpPr>
        <p:spPr>
          <a:xfrm>
            <a:off x="76200" y="1295400"/>
            <a:ext cx="8915402" cy="954107"/>
          </a:xfrm>
          <a:prstGeom prst="rect">
            <a:avLst/>
          </a:prstGeom>
        </p:spPr>
        <p:txBody>
          <a:bodyPr wrap="square">
            <a:spAutoFit/>
          </a:bodyPr>
          <a:lstStyle/>
          <a:p>
            <a:pPr algn="ctr"/>
            <a:r>
              <a:rPr lang="en-US" sz="2800" dirty="0">
                <a:latin typeface="Times New Roman" pitchFamily="18" charset="0"/>
                <a:cs typeface="Times New Roman" pitchFamily="18" charset="0"/>
              </a:rPr>
              <a:t>Project Title: </a:t>
            </a:r>
            <a:r>
              <a:rPr lang="en-US" sz="3200" i="1" dirty="0">
                <a:latin typeface="Times New Roman" pitchFamily="18" charset="0"/>
                <a:cs typeface="Times New Roman" pitchFamily="18" charset="0"/>
              </a:rPr>
              <a:t>“</a:t>
            </a:r>
            <a:r>
              <a:rPr lang="en-US" sz="2400" dirty="0">
                <a:latin typeface="Times New Roman" pitchFamily="18" charset="0"/>
                <a:cs typeface="Times New Roman" pitchFamily="18" charset="0"/>
              </a:rPr>
              <a:t>Revolutionizing Network Security – Blockchain Based Zero Trust Network Access”</a:t>
            </a:r>
          </a:p>
        </p:txBody>
      </p:sp>
      <p:sp>
        <p:nvSpPr>
          <p:cNvPr id="8" name="Rectangle 7"/>
          <p:cNvSpPr/>
          <p:nvPr/>
        </p:nvSpPr>
        <p:spPr>
          <a:xfrm>
            <a:off x="457200" y="3048001"/>
            <a:ext cx="2743200" cy="646331"/>
          </a:xfrm>
          <a:prstGeom prst="rect">
            <a:avLst/>
          </a:prstGeom>
        </p:spPr>
        <p:txBody>
          <a:bodyPr wrap="square">
            <a:spAutoFit/>
          </a:bodyPr>
          <a:lstStyle/>
          <a:p>
            <a:pPr>
              <a:defRPr/>
            </a:pPr>
            <a:r>
              <a:rPr lang="en-US" dirty="0">
                <a:latin typeface="Times New Roman" pitchFamily="18" charset="0"/>
                <a:cs typeface="Times New Roman" pitchFamily="18" charset="0"/>
              </a:rPr>
              <a:t>Project Batch No.: 12</a:t>
            </a:r>
          </a:p>
          <a:p>
            <a:endParaRPr lang="en-US" dirty="0"/>
          </a:p>
        </p:txBody>
      </p:sp>
      <p:sp>
        <p:nvSpPr>
          <p:cNvPr id="9" name="Rectangle 8"/>
          <p:cNvSpPr/>
          <p:nvPr/>
        </p:nvSpPr>
        <p:spPr>
          <a:xfrm>
            <a:off x="533400" y="4191000"/>
            <a:ext cx="2590800" cy="923330"/>
          </a:xfrm>
          <a:prstGeom prst="rect">
            <a:avLst/>
          </a:prstGeom>
        </p:spPr>
        <p:txBody>
          <a:bodyPr wrap="square">
            <a:spAutoFit/>
          </a:bodyPr>
          <a:lstStyle/>
          <a:p>
            <a:r>
              <a:rPr lang="en-US" dirty="0">
                <a:latin typeface="Times New Roman" pitchFamily="18" charset="0"/>
                <a:cs typeface="Times New Roman" pitchFamily="18" charset="0"/>
              </a:rPr>
              <a:t>Guide:</a:t>
            </a:r>
          </a:p>
          <a:p>
            <a:r>
              <a:rPr lang="en-US" i="1" dirty="0">
                <a:latin typeface="Times New Roman" pitchFamily="18" charset="0"/>
                <a:cs typeface="Times New Roman" pitchFamily="18" charset="0"/>
              </a:rPr>
              <a:t>Name: Dr. </a:t>
            </a:r>
            <a:r>
              <a:rPr lang="en-US" i="1" dirty="0" err="1">
                <a:latin typeface="Times New Roman" pitchFamily="18" charset="0"/>
                <a:cs typeface="Times New Roman" pitchFamily="18" charset="0"/>
              </a:rPr>
              <a:t>A.Seenu</a:t>
            </a:r>
            <a:endParaRPr lang="en-US" i="1" dirty="0">
              <a:latin typeface="Times New Roman" pitchFamily="18" charset="0"/>
              <a:cs typeface="Times New Roman" pitchFamily="18" charset="0"/>
            </a:endParaRPr>
          </a:p>
          <a:p>
            <a:r>
              <a:rPr lang="en-US" i="1" dirty="0">
                <a:latin typeface="Times New Roman" pitchFamily="18" charset="0"/>
                <a:cs typeface="Times New Roman" pitchFamily="18" charset="0"/>
              </a:rPr>
              <a:t>Designation: Professor</a:t>
            </a:r>
            <a:endParaRPr lang="en-US" dirty="0">
              <a:latin typeface="Times New Roman" pitchFamily="18" charset="0"/>
              <a:cs typeface="Times New Roman" pitchFamily="18" charset="0"/>
            </a:endParaRPr>
          </a:p>
        </p:txBody>
      </p:sp>
      <p:sp>
        <p:nvSpPr>
          <p:cNvPr id="10" name="Rectangle 9"/>
          <p:cNvSpPr/>
          <p:nvPr/>
        </p:nvSpPr>
        <p:spPr>
          <a:xfrm>
            <a:off x="685800" y="5562600"/>
            <a:ext cx="8001000" cy="923330"/>
          </a:xfrm>
          <a:prstGeom prst="rect">
            <a:avLst/>
          </a:prstGeom>
        </p:spPr>
        <p:txBody>
          <a:bodyPr wrap="square">
            <a:spAutoFit/>
          </a:bodyPr>
          <a:lstStyle/>
          <a:p>
            <a:pPr algn="ctr"/>
            <a:r>
              <a:rPr lang="en-US" dirty="0">
                <a:latin typeface="Times New Roman" pitchFamily="18" charset="0"/>
                <a:cs typeface="Times New Roman" pitchFamily="18" charset="0"/>
              </a:rPr>
              <a:t>Department of Computer Science and Engineering</a:t>
            </a:r>
          </a:p>
          <a:p>
            <a:pPr algn="ctr"/>
            <a:r>
              <a:rPr lang="en-US" dirty="0">
                <a:latin typeface="Times New Roman" pitchFamily="18" charset="0"/>
                <a:cs typeface="Times New Roman" pitchFamily="18" charset="0"/>
              </a:rPr>
              <a:t>Shri Vishnu Engineering College for Women (A), Bhimavarm.</a:t>
            </a:r>
          </a:p>
          <a:p>
            <a:pPr algn="ctr"/>
            <a:r>
              <a:rPr lang="en-US" dirty="0">
                <a:latin typeface="Times New Roman" pitchFamily="18" charset="0"/>
                <a:cs typeface="Times New Roman" pitchFamily="18" charset="0"/>
              </a:rPr>
              <a:t>Academic Year: 2025 – 2026</a:t>
            </a:r>
          </a:p>
        </p:txBody>
      </p:sp>
      <p:pic>
        <p:nvPicPr>
          <p:cNvPr id="11" name="Picture 10" descr="SVECW_LOGO.PNG"/>
          <p:cNvPicPr>
            <a:picLocks noChangeAspect="1"/>
          </p:cNvPicPr>
          <p:nvPr/>
        </p:nvPicPr>
        <p:blipFill>
          <a:blip r:embed="rId2" cstate="print"/>
          <a:stretch>
            <a:fillRect/>
          </a:stretch>
        </p:blipFill>
        <p:spPr>
          <a:xfrm>
            <a:off x="0" y="152400"/>
            <a:ext cx="3705742" cy="1086002"/>
          </a:xfrm>
          <a:prstGeom prst="rect">
            <a:avLst/>
          </a:prstGeom>
        </p:spPr>
      </p:pic>
      <p:sp>
        <p:nvSpPr>
          <p:cNvPr id="13" name="Slide Number Placeholder 12"/>
          <p:cNvSpPr>
            <a:spLocks noGrp="1"/>
          </p:cNvSpPr>
          <p:nvPr>
            <p:ph type="sldNum" sz="quarter" idx="12"/>
          </p:nvPr>
        </p:nvSpPr>
        <p:spPr/>
        <p:txBody>
          <a:bodyPr/>
          <a:lstStyle/>
          <a:p>
            <a:fld id="{B6F15528-21DE-4FAA-801E-634DDDAF4B2B}" type="slidenum">
              <a:rPr lang="en-US" smtClean="0"/>
              <a:pPr/>
              <a:t>1</a:t>
            </a:fld>
            <a:endParaRPr lang="en-US"/>
          </a:p>
        </p:txBody>
      </p:sp>
      <p:sp>
        <p:nvSpPr>
          <p:cNvPr id="2" name="Rectangle 1">
            <a:extLst>
              <a:ext uri="{FF2B5EF4-FFF2-40B4-BE49-F238E27FC236}">
                <a16:creationId xmlns:a16="http://schemas.microsoft.com/office/drawing/2014/main" id="{E5E28587-95C5-1800-88D5-54A07064BF11}"/>
              </a:ext>
            </a:extLst>
          </p:cNvPr>
          <p:cNvSpPr/>
          <p:nvPr/>
        </p:nvSpPr>
        <p:spPr>
          <a:xfrm>
            <a:off x="3705742" y="2895600"/>
            <a:ext cx="5209658" cy="1754326"/>
          </a:xfrm>
          <a:prstGeom prst="rect">
            <a:avLst/>
          </a:prstGeom>
        </p:spPr>
        <p:txBody>
          <a:bodyPr wrap="square">
            <a:spAutoFit/>
          </a:bodyPr>
          <a:lstStyle/>
          <a:p>
            <a:r>
              <a:rPr lang="en-US" dirty="0">
                <a:latin typeface="Times New Roman" pitchFamily="18" charset="0"/>
                <a:cs typeface="Times New Roman" pitchFamily="18" charset="0"/>
              </a:rPr>
              <a:t>Submitted By:</a:t>
            </a:r>
          </a:p>
          <a:p>
            <a:pPr marL="285750" indent="-285750">
              <a:buFontTx/>
              <a:buChar char="-"/>
            </a:pPr>
            <a:r>
              <a:rPr lang="en-US" dirty="0">
                <a:latin typeface="Times New Roman" pitchFamily="18" charset="0"/>
                <a:cs typeface="Times New Roman" pitchFamily="18" charset="0"/>
              </a:rPr>
              <a:t>Kola Madhu Latha Reddy - 22B01A0589</a:t>
            </a:r>
          </a:p>
          <a:p>
            <a:pPr marL="285750" indent="-285750">
              <a:buFontTx/>
              <a:buChar char="-"/>
            </a:pPr>
            <a:r>
              <a:rPr lang="en-US" dirty="0">
                <a:latin typeface="Times New Roman" pitchFamily="18" charset="0"/>
                <a:cs typeface="Times New Roman" pitchFamily="18" charset="0"/>
              </a:rPr>
              <a:t>Kollu Hruthika Manojhna - 22B01A0591</a:t>
            </a:r>
          </a:p>
          <a:p>
            <a:pPr marL="285750" indent="-285750">
              <a:buFontTx/>
              <a:buChar char="-"/>
            </a:pPr>
            <a:r>
              <a:rPr lang="en-US" dirty="0">
                <a:latin typeface="Times New Roman" pitchFamily="18" charset="0"/>
                <a:cs typeface="Times New Roman" pitchFamily="18" charset="0"/>
              </a:rPr>
              <a:t>Malavathu Sowjanyya - 22B01A05A9</a:t>
            </a:r>
          </a:p>
          <a:p>
            <a:pPr marL="285750" indent="-285750">
              <a:buFontTx/>
              <a:buChar char="-"/>
            </a:pPr>
            <a:r>
              <a:rPr lang="en-US" dirty="0">
                <a:latin typeface="Times New Roman" pitchFamily="18" charset="0"/>
                <a:cs typeface="Times New Roman" pitchFamily="18" charset="0"/>
              </a:rPr>
              <a:t>Nalluri Harshita - 22B01A05C7</a:t>
            </a:r>
          </a:p>
          <a:p>
            <a:pPr marL="285750" indent="-285750">
              <a:buFontTx/>
              <a:buChar char="-"/>
            </a:pPr>
            <a:r>
              <a:rPr lang="en-US" dirty="0">
                <a:latin typeface="Times New Roman" pitchFamily="18" charset="0"/>
                <a:cs typeface="Times New Roman" pitchFamily="18" charset="0"/>
              </a:rPr>
              <a:t>Namburi Akhila - 22B01A05C8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95497" y="152400"/>
            <a:ext cx="5896165" cy="830997"/>
          </a:xfrm>
          <a:prstGeom prst="rect">
            <a:avLst/>
          </a:prstGeom>
        </p:spPr>
        <p:txBody>
          <a:bodyPr wrap="none">
            <a:spAutoFit/>
          </a:bodyPr>
          <a:lstStyle/>
          <a:p>
            <a:pPr algn="r"/>
            <a:r>
              <a:rPr lang="en-US" sz="2400" dirty="0">
                <a:latin typeface="Times New Roman" pitchFamily="18" charset="0"/>
                <a:cs typeface="Times New Roman" pitchFamily="18" charset="0"/>
              </a:rPr>
              <a:t>Consolidated table showing the modifications </a:t>
            </a:r>
          </a:p>
          <a:p>
            <a:pPr algn="r"/>
            <a:r>
              <a:rPr lang="en-US" sz="2400" dirty="0">
                <a:latin typeface="Times New Roman" pitchFamily="18" charset="0"/>
                <a:cs typeface="Times New Roman" pitchFamily="18" charset="0"/>
              </a:rPr>
              <a:t>suggested and done from the Review-IV</a:t>
            </a: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11" name="Picture 10"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graphicFrame>
        <p:nvGraphicFramePr>
          <p:cNvPr id="2" name="Table 1">
            <a:extLst>
              <a:ext uri="{FF2B5EF4-FFF2-40B4-BE49-F238E27FC236}">
                <a16:creationId xmlns:a16="http://schemas.microsoft.com/office/drawing/2014/main" id="{0CB35C50-7091-B40D-9D6C-D133BACF9C3F}"/>
              </a:ext>
            </a:extLst>
          </p:cNvPr>
          <p:cNvGraphicFramePr>
            <a:graphicFrameLocks noGrp="1"/>
          </p:cNvGraphicFramePr>
          <p:nvPr>
            <p:extLst>
              <p:ext uri="{D42A27DB-BD31-4B8C-83A1-F6EECF244321}">
                <p14:modId xmlns:p14="http://schemas.microsoft.com/office/powerpoint/2010/main" val="635298300"/>
              </p:ext>
            </p:extLst>
          </p:nvPr>
        </p:nvGraphicFramePr>
        <p:xfrm>
          <a:off x="591164" y="1224333"/>
          <a:ext cx="7961671" cy="4891081"/>
        </p:xfrm>
        <a:graphic>
          <a:graphicData uri="http://schemas.openxmlformats.org/drawingml/2006/table">
            <a:tbl>
              <a:tblPr firstRow="1" bandRow="1">
                <a:tableStyleId>{E8B1032C-EA38-4F05-BA0D-38AFFFC7BED3}</a:tableStyleId>
              </a:tblPr>
              <a:tblGrid>
                <a:gridCol w="967306">
                  <a:extLst>
                    <a:ext uri="{9D8B030D-6E8A-4147-A177-3AD203B41FA5}">
                      <a16:colId xmlns:a16="http://schemas.microsoft.com/office/drawing/2014/main" val="873813068"/>
                    </a:ext>
                  </a:extLst>
                </a:gridCol>
                <a:gridCol w="2556330">
                  <a:extLst>
                    <a:ext uri="{9D8B030D-6E8A-4147-A177-3AD203B41FA5}">
                      <a16:colId xmlns:a16="http://schemas.microsoft.com/office/drawing/2014/main" val="2026951"/>
                    </a:ext>
                  </a:extLst>
                </a:gridCol>
                <a:gridCol w="4438035">
                  <a:extLst>
                    <a:ext uri="{9D8B030D-6E8A-4147-A177-3AD203B41FA5}">
                      <a16:colId xmlns:a16="http://schemas.microsoft.com/office/drawing/2014/main" val="3495738089"/>
                    </a:ext>
                  </a:extLst>
                </a:gridCol>
              </a:tblGrid>
              <a:tr h="725389">
                <a:tc>
                  <a:txBody>
                    <a:bodyPr/>
                    <a:lstStyle/>
                    <a:p>
                      <a:r>
                        <a:rPr lang="en-IN" b="1" dirty="0"/>
                        <a:t>     S.No                           </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dirty="0"/>
                        <a:t>Modification suggested (Review-II)</a:t>
                      </a:r>
                      <a:endParaRPr lang="en-IN" b="1" dirty="0">
                        <a:latin typeface="Times New Roman" panose="02020603050405020304" pitchFamily="18" charset="0"/>
                        <a:cs typeface="Times New Roman" panose="02020603050405020304" pitchFamily="18" charset="0"/>
                      </a:endParaRPr>
                    </a:p>
                  </a:txBody>
                  <a:tcPr/>
                </a:tc>
                <a:tc>
                  <a:txBody>
                    <a:bodyPr/>
                    <a:lstStyle/>
                    <a:p>
                      <a:r>
                        <a:rPr lang="en-IN" b="1" dirty="0"/>
                        <a:t>Action Taken/Modification Implemented</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10151378"/>
                  </a:ext>
                </a:extLst>
              </a:tr>
              <a:tr h="1174439">
                <a:tc>
                  <a:txBody>
                    <a:bodyPr/>
                    <a:lstStyle/>
                    <a:p>
                      <a:r>
                        <a:rPr lang="en-IN" dirty="0"/>
                        <a:t>        1.</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What is the outcome?</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Outcomes clearly defined as improved security, decentralized access control, tamper-proof logging, and automated policy enforcement.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43916041"/>
                  </a:ext>
                </a:extLst>
              </a:tr>
              <a:tr h="1554405">
                <a:tc>
                  <a:txBody>
                    <a:bodyPr/>
                    <a:lstStyle/>
                    <a:p>
                      <a:r>
                        <a:rPr lang="en-IN" dirty="0"/>
                        <a:t>       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How much data can a user store and how many users can access the system?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Clarified that only hashed identity credentials and transaction references are stored on-chain. Application scalability depends on blockchain network capacity and backend infrastructure.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35662730"/>
                  </a:ext>
                </a:extLst>
              </a:tr>
              <a:tr h="1422567">
                <a:tc>
                  <a:txBody>
                    <a:bodyPr/>
                    <a:lstStyle/>
                    <a:p>
                      <a:r>
                        <a:rPr lang="en-IN" dirty="0"/>
                        <a:t>       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 Is Ethereum free? Clarify deployment cost.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t>Specified use of Ethereum test network (Remix environment) for development. Explained gas cost implications for real-world mainnet deployment.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369229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764987" y="152400"/>
            <a:ext cx="1226618" cy="461665"/>
          </a:xfrm>
          <a:prstGeom prst="rect">
            <a:avLst/>
          </a:prstGeom>
        </p:spPr>
        <p:txBody>
          <a:bodyPr wrap="none">
            <a:spAutoFit/>
          </a:bodyPr>
          <a:lstStyle/>
          <a:p>
            <a:pPr algn="r"/>
            <a:r>
              <a:rPr lang="en-US" sz="2400" dirty="0">
                <a:latin typeface="Times New Roman" pitchFamily="18" charset="0"/>
                <a:cs typeface="Times New Roman" pitchFamily="18" charset="0"/>
              </a:rPr>
              <a:t>Abstract</a:t>
            </a: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11" name="Picture 10"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2" name="Rectangle 1"/>
          <p:cNvSpPr/>
          <p:nvPr/>
        </p:nvSpPr>
        <p:spPr>
          <a:xfrm>
            <a:off x="764458" y="1371600"/>
            <a:ext cx="7239000" cy="4524315"/>
          </a:xfrm>
          <a:prstGeom prst="rect">
            <a:avLst/>
          </a:prstGeom>
        </p:spPr>
        <p:txBody>
          <a:bodyPr wrap="square">
            <a:spAutoFit/>
          </a:bodyPr>
          <a:lstStyle/>
          <a:p>
            <a:pPr algn="just"/>
            <a:r>
              <a:rPr lang="en-US" dirty="0">
                <a:latin typeface="Times New Roman" pitchFamily="18" charset="0"/>
                <a:cs typeface="Times New Roman" pitchFamily="18" charset="0"/>
              </a:rPr>
              <a:t>	This project proposes a </a:t>
            </a:r>
            <a:r>
              <a:rPr lang="en-US" b="1" dirty="0">
                <a:latin typeface="Times New Roman" pitchFamily="18" charset="0"/>
                <a:cs typeface="Times New Roman" pitchFamily="18" charset="0"/>
              </a:rPr>
              <a:t>Blockchain-Based Zero Trust Network Access (ZTNA) System</a:t>
            </a:r>
            <a:r>
              <a:rPr lang="en-US" dirty="0">
                <a:latin typeface="Times New Roman" pitchFamily="18" charset="0"/>
                <a:cs typeface="Times New Roman" pitchFamily="18" charset="0"/>
              </a:rPr>
              <a:t> aimed at eliminating centralized control points and enhancing secure access to network resources in modern distributed environments. Traditional ZTNA architectures rely heavily on centralized identity providers, policy engines, and logging systems, which introduce vulnerabilities such as single points of failure, insider threats, and tampered audit logs.</a:t>
            </a:r>
          </a:p>
          <a:p>
            <a:pPr algn="just"/>
            <a:r>
              <a:rPr lang="en-US" dirty="0">
                <a:latin typeface="Times New Roman" pitchFamily="18" charset="0"/>
                <a:cs typeface="Times New Roman" pitchFamily="18" charset="0"/>
              </a:rPr>
              <a:t>User and device identities are validated through a distributed ledger, while access policies are enforced automatically using smart contracts without human intervention. The system also supports </a:t>
            </a:r>
            <a:r>
              <a:rPr lang="en-US" b="1" dirty="0">
                <a:latin typeface="Times New Roman" pitchFamily="18" charset="0"/>
                <a:cs typeface="Times New Roman" pitchFamily="18" charset="0"/>
              </a:rPr>
              <a:t>continuous trust evaluation</a:t>
            </a:r>
            <a:r>
              <a:rPr lang="en-US" dirty="0">
                <a:latin typeface="Times New Roman" pitchFamily="18" charset="0"/>
                <a:cs typeface="Times New Roman" pitchFamily="18" charset="0"/>
              </a:rPr>
              <a:t> based on contextual parameters such as device health, behavior, and location.</a:t>
            </a:r>
          </a:p>
          <a:p>
            <a:pPr algn="just"/>
            <a:r>
              <a:rPr lang="en-US" dirty="0">
                <a:latin typeface="Times New Roman" pitchFamily="18" charset="0"/>
                <a:cs typeface="Times New Roman" pitchFamily="18" charset="0"/>
              </a:rPr>
              <a:t>By decentralizing verification and logging mechanisms, the proposed solution ensures </a:t>
            </a:r>
            <a:r>
              <a:rPr lang="en-US" b="1" dirty="0">
                <a:latin typeface="Times New Roman" pitchFamily="18" charset="0"/>
                <a:cs typeface="Times New Roman" pitchFamily="18" charset="0"/>
              </a:rPr>
              <a:t>transparency, resilience, and tamper-proof access control</a:t>
            </a:r>
            <a:r>
              <a:rPr lang="en-US" dirty="0">
                <a:latin typeface="Times New Roman" pitchFamily="18" charset="0"/>
                <a:cs typeface="Times New Roman" pitchFamily="18" charset="0"/>
              </a:rPr>
              <a:t>, making it suitable for secure, scalable, and cloud-native enterprise environments.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705600" y="76200"/>
            <a:ext cx="2343911" cy="461665"/>
          </a:xfrm>
          <a:prstGeom prst="rect">
            <a:avLst/>
          </a:prstGeom>
        </p:spPr>
        <p:txBody>
          <a:bodyPr wrap="none">
            <a:spAutoFit/>
          </a:bodyPr>
          <a:lstStyle/>
          <a:p>
            <a:pPr algn="r"/>
            <a:r>
              <a:rPr lang="en-US" sz="2400" dirty="0">
                <a:latin typeface="Times New Roman" pitchFamily="18" charset="0"/>
                <a:cs typeface="Times New Roman" pitchFamily="18" charset="0"/>
              </a:rPr>
              <a:t>Literature Survey</a:t>
            </a:r>
          </a:p>
        </p:txBody>
      </p:sp>
      <p:pic>
        <p:nvPicPr>
          <p:cNvPr id="6" name="Picture 5" descr="SVECW_LOGO.PNG"/>
          <p:cNvPicPr>
            <a:picLocks noChangeAspect="1"/>
          </p:cNvPicPr>
          <p:nvPr/>
        </p:nvPicPr>
        <p:blipFill>
          <a:blip r:embed="rId3" cstate="print"/>
          <a:srcRect r="73269"/>
          <a:stretch>
            <a:fillRect/>
          </a:stretch>
        </p:blipFill>
        <p:spPr>
          <a:xfrm>
            <a:off x="76200" y="0"/>
            <a:ext cx="914400" cy="914401"/>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4</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4248818652"/>
              </p:ext>
            </p:extLst>
          </p:nvPr>
        </p:nvGraphicFramePr>
        <p:xfrm>
          <a:off x="838200" y="1371600"/>
          <a:ext cx="7467600" cy="4367509"/>
        </p:xfrm>
        <a:graphic>
          <a:graphicData uri="http://schemas.openxmlformats.org/drawingml/2006/table">
            <a:tbl>
              <a:tblPr>
                <a:tableStyleId>{E8B1032C-EA38-4F05-BA0D-38AFFFC7BED3}</a:tableStyleId>
              </a:tblPr>
              <a:tblGrid>
                <a:gridCol w="18669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2019300">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tblGrid>
              <a:tr h="396748">
                <a:tc>
                  <a:txBody>
                    <a:bodyPr/>
                    <a:lstStyle/>
                    <a:p>
                      <a:pPr algn="l"/>
                      <a:r>
                        <a:rPr lang="en-IN" sz="1500" dirty="0">
                          <a:latin typeface="Times New Roman" pitchFamily="18" charset="0"/>
                          <a:cs typeface="Times New Roman" pitchFamily="18" charset="0"/>
                        </a:rPr>
                        <a:t>Author &amp; Year</a:t>
                      </a:r>
                    </a:p>
                  </a:txBody>
                  <a:tcPr marL="50854" marR="50854" marT="25427" marB="25427" anchor="ctr"/>
                </a:tc>
                <a:tc>
                  <a:txBody>
                    <a:bodyPr/>
                    <a:lstStyle/>
                    <a:p>
                      <a:pPr algn="l"/>
                      <a:r>
                        <a:rPr lang="en-IN" sz="1500" dirty="0">
                          <a:latin typeface="Times New Roman" pitchFamily="18" charset="0"/>
                          <a:cs typeface="Times New Roman" pitchFamily="18" charset="0"/>
                        </a:rPr>
                        <a:t>Area / Technique</a:t>
                      </a:r>
                    </a:p>
                  </a:txBody>
                  <a:tcPr marL="50854" marR="50854" marT="25427" marB="25427" anchor="ctr"/>
                </a:tc>
                <a:tc>
                  <a:txBody>
                    <a:bodyPr/>
                    <a:lstStyle/>
                    <a:p>
                      <a:pPr algn="l"/>
                      <a:r>
                        <a:rPr lang="en-IN" sz="1500" dirty="0">
                          <a:latin typeface="Times New Roman" pitchFamily="18" charset="0"/>
                          <a:cs typeface="Times New Roman" pitchFamily="18" charset="0"/>
                        </a:rPr>
                        <a:t>Key Contribution</a:t>
                      </a:r>
                    </a:p>
                  </a:txBody>
                  <a:tcPr marL="50854" marR="50854" marT="25427" marB="25427" anchor="ctr"/>
                </a:tc>
                <a:tc>
                  <a:txBody>
                    <a:bodyPr/>
                    <a:lstStyle/>
                    <a:p>
                      <a:pPr algn="l"/>
                      <a:r>
                        <a:rPr lang="en-IN" sz="1500" dirty="0">
                          <a:latin typeface="Times New Roman" pitchFamily="18" charset="0"/>
                          <a:cs typeface="Times New Roman" pitchFamily="18" charset="0"/>
                        </a:rPr>
                        <a:t>Limitations Identified</a:t>
                      </a:r>
                    </a:p>
                  </a:txBody>
                  <a:tcPr marL="50854" marR="50854" marT="25427" marB="25427" anchor="ctr"/>
                </a:tc>
                <a:extLst>
                  <a:ext uri="{0D108BD9-81ED-4DB2-BD59-A6C34878D82A}">
                    <a16:rowId xmlns:a16="http://schemas.microsoft.com/office/drawing/2014/main" val="10000"/>
                  </a:ext>
                </a:extLst>
              </a:tr>
              <a:tr h="736817">
                <a:tc>
                  <a:txBody>
                    <a:bodyPr/>
                    <a:lstStyle/>
                    <a:p>
                      <a:pPr algn="l"/>
                      <a:r>
                        <a:rPr lang="en-IN" sz="1500" dirty="0">
                          <a:latin typeface="Times New Roman" pitchFamily="18" charset="0"/>
                          <a:cs typeface="Times New Roman" pitchFamily="18" charset="0"/>
                        </a:rPr>
                        <a:t>NIST (2020)</a:t>
                      </a:r>
                    </a:p>
                  </a:txBody>
                  <a:tcPr marL="50854" marR="50854" marT="25427" marB="25427" anchor="ctr"/>
                </a:tc>
                <a:tc>
                  <a:txBody>
                    <a:bodyPr/>
                    <a:lstStyle/>
                    <a:p>
                      <a:pPr algn="l"/>
                      <a:r>
                        <a:rPr lang="en-US" sz="1500" dirty="0">
                          <a:latin typeface="Times New Roman" pitchFamily="18" charset="0"/>
                          <a:cs typeface="Times New Roman" pitchFamily="18" charset="0"/>
                        </a:rPr>
                        <a:t>Zero Trust Architecture (SP 800-207)</a:t>
                      </a:r>
                    </a:p>
                  </a:txBody>
                  <a:tcPr marL="50854" marR="50854" marT="25427" marB="25427" anchor="ctr"/>
                </a:tc>
                <a:tc>
                  <a:txBody>
                    <a:bodyPr/>
                    <a:lstStyle/>
                    <a:p>
                      <a:pPr algn="l"/>
                      <a:r>
                        <a:rPr lang="en-US" sz="1500" dirty="0">
                          <a:latin typeface="Times New Roman" pitchFamily="18" charset="0"/>
                          <a:cs typeface="Times New Roman" pitchFamily="18" charset="0"/>
                        </a:rPr>
                        <a:t>Defined core Zero Trust principles and continuous verification model</a:t>
                      </a:r>
                    </a:p>
                  </a:txBody>
                  <a:tcPr marL="50854" marR="50854" marT="25427" marB="25427" anchor="ctr"/>
                </a:tc>
                <a:tc>
                  <a:txBody>
                    <a:bodyPr/>
                    <a:lstStyle/>
                    <a:p>
                      <a:pPr algn="l"/>
                      <a:r>
                        <a:rPr lang="en-US" sz="1500" dirty="0">
                          <a:latin typeface="Times New Roman" pitchFamily="18" charset="0"/>
                          <a:cs typeface="Times New Roman" pitchFamily="18" charset="0"/>
                        </a:rPr>
                        <a:t>Relies on centralized policy and identity systems</a:t>
                      </a:r>
                    </a:p>
                  </a:txBody>
                  <a:tcPr marL="50854" marR="50854" marT="25427" marB="25427" anchor="ctr"/>
                </a:tc>
                <a:extLst>
                  <a:ext uri="{0D108BD9-81ED-4DB2-BD59-A6C34878D82A}">
                    <a16:rowId xmlns:a16="http://schemas.microsoft.com/office/drawing/2014/main" val="10001"/>
                  </a:ext>
                </a:extLst>
              </a:tr>
              <a:tr h="668159">
                <a:tc>
                  <a:txBody>
                    <a:bodyPr/>
                    <a:lstStyle/>
                    <a:p>
                      <a:pPr algn="l"/>
                      <a:r>
                        <a:rPr lang="en-IN" sz="1500" dirty="0">
                          <a:latin typeface="Times New Roman" pitchFamily="18" charset="0"/>
                          <a:cs typeface="Times New Roman" pitchFamily="18" charset="0"/>
                        </a:rPr>
                        <a:t>Rose et al. (2022)</a:t>
                      </a:r>
                    </a:p>
                  </a:txBody>
                  <a:tcPr marL="50854" marR="50854" marT="25427" marB="25427" anchor="ctr"/>
                </a:tc>
                <a:tc>
                  <a:txBody>
                    <a:bodyPr/>
                    <a:lstStyle/>
                    <a:p>
                      <a:pPr algn="l"/>
                      <a:r>
                        <a:rPr lang="en-IN" sz="1500" dirty="0">
                          <a:latin typeface="Times New Roman" pitchFamily="18" charset="0"/>
                          <a:cs typeface="Times New Roman" pitchFamily="18" charset="0"/>
                        </a:rPr>
                        <a:t>Enterprise Zero Trust</a:t>
                      </a:r>
                    </a:p>
                  </a:txBody>
                  <a:tcPr marL="50854" marR="50854" marT="25427" marB="25427" anchor="ctr"/>
                </a:tc>
                <a:tc>
                  <a:txBody>
                    <a:bodyPr/>
                    <a:lstStyle/>
                    <a:p>
                      <a:pPr algn="l"/>
                      <a:r>
                        <a:rPr lang="en-US" sz="1500" dirty="0">
                          <a:latin typeface="Times New Roman" pitchFamily="18" charset="0"/>
                          <a:cs typeface="Times New Roman" pitchFamily="18" charset="0"/>
                        </a:rPr>
                        <a:t>Discussed dynamic authorization and identity validation</a:t>
                      </a:r>
                    </a:p>
                  </a:txBody>
                  <a:tcPr marL="50854" marR="50854" marT="25427" marB="25427" anchor="ctr"/>
                </a:tc>
                <a:tc>
                  <a:txBody>
                    <a:bodyPr/>
                    <a:lstStyle/>
                    <a:p>
                      <a:pPr algn="l"/>
                      <a:r>
                        <a:rPr lang="en-US" sz="1500" dirty="0">
                          <a:latin typeface="Times New Roman" pitchFamily="18" charset="0"/>
                          <a:cs typeface="Times New Roman" pitchFamily="18" charset="0"/>
                        </a:rPr>
                        <a:t>Centralized logging remains a risk</a:t>
                      </a:r>
                    </a:p>
                  </a:txBody>
                  <a:tcPr marL="50854" marR="50854" marT="25427" marB="25427" anchor="ctr"/>
                </a:tc>
                <a:extLst>
                  <a:ext uri="{0D108BD9-81ED-4DB2-BD59-A6C34878D82A}">
                    <a16:rowId xmlns:a16="http://schemas.microsoft.com/office/drawing/2014/main" val="10003"/>
                  </a:ext>
                </a:extLst>
              </a:tr>
              <a:tr h="736817">
                <a:tc>
                  <a:txBody>
                    <a:bodyPr/>
                    <a:lstStyle/>
                    <a:p>
                      <a:pPr algn="l"/>
                      <a:r>
                        <a:rPr lang="en-IN" sz="1500">
                          <a:latin typeface="Times New Roman" pitchFamily="18" charset="0"/>
                          <a:cs typeface="Times New Roman" pitchFamily="18" charset="0"/>
                        </a:rPr>
                        <a:t>Buterin (2023)</a:t>
                      </a:r>
                    </a:p>
                  </a:txBody>
                  <a:tcPr marL="50854" marR="50854" marT="25427" marB="25427" anchor="ctr"/>
                </a:tc>
                <a:tc>
                  <a:txBody>
                    <a:bodyPr/>
                    <a:lstStyle/>
                    <a:p>
                      <a:pPr algn="l"/>
                      <a:r>
                        <a:rPr lang="en-IN" sz="1500" dirty="0">
                          <a:latin typeface="Times New Roman" pitchFamily="18" charset="0"/>
                          <a:cs typeface="Times New Roman" pitchFamily="18" charset="0"/>
                        </a:rPr>
                        <a:t>Blockchain &amp; Smart Contracts</a:t>
                      </a:r>
                    </a:p>
                  </a:txBody>
                  <a:tcPr marL="50854" marR="50854" marT="25427" marB="25427" anchor="ctr"/>
                </a:tc>
                <a:tc>
                  <a:txBody>
                    <a:bodyPr/>
                    <a:lstStyle/>
                    <a:p>
                      <a:pPr algn="l"/>
                      <a:r>
                        <a:rPr lang="en-US" sz="1500" dirty="0">
                          <a:latin typeface="Times New Roman" pitchFamily="18" charset="0"/>
                          <a:cs typeface="Times New Roman" pitchFamily="18" charset="0"/>
                        </a:rPr>
                        <a:t>Introduced decentralized, trustless execution using Ethereum</a:t>
                      </a:r>
                    </a:p>
                  </a:txBody>
                  <a:tcPr marL="50854" marR="50854" marT="25427" marB="25427" anchor="ctr"/>
                </a:tc>
                <a:tc>
                  <a:txBody>
                    <a:bodyPr/>
                    <a:lstStyle/>
                    <a:p>
                      <a:pPr algn="l"/>
                      <a:r>
                        <a:rPr lang="en-US" sz="1500" dirty="0">
                          <a:latin typeface="Times New Roman" pitchFamily="18" charset="0"/>
                          <a:cs typeface="Times New Roman" pitchFamily="18" charset="0"/>
                        </a:rPr>
                        <a:t>High latency for real-time enterprise access</a:t>
                      </a:r>
                    </a:p>
                  </a:txBody>
                  <a:tcPr marL="50854" marR="50854" marT="25427" marB="25427" anchor="ctr"/>
                </a:tc>
                <a:extLst>
                  <a:ext uri="{0D108BD9-81ED-4DB2-BD59-A6C34878D82A}">
                    <a16:rowId xmlns:a16="http://schemas.microsoft.com/office/drawing/2014/main" val="10004"/>
                  </a:ext>
                </a:extLst>
              </a:tr>
              <a:tr h="736817">
                <a:tc>
                  <a:txBody>
                    <a:bodyPr/>
                    <a:lstStyle/>
                    <a:p>
                      <a:pPr algn="l"/>
                      <a:r>
                        <a:rPr lang="en-IN" sz="1500" dirty="0">
                          <a:latin typeface="Times New Roman" pitchFamily="18" charset="0"/>
                          <a:cs typeface="Times New Roman" pitchFamily="18" charset="0"/>
                        </a:rPr>
                        <a:t>Makhdoom et al. (2021)</a:t>
                      </a:r>
                    </a:p>
                  </a:txBody>
                  <a:tcPr marL="50854" marR="50854" marT="25427" marB="25427" anchor="ctr"/>
                </a:tc>
                <a:tc>
                  <a:txBody>
                    <a:bodyPr/>
                    <a:lstStyle/>
                    <a:p>
                      <a:pPr algn="l"/>
                      <a:r>
                        <a:rPr lang="en-IN" sz="1500">
                          <a:latin typeface="Times New Roman" pitchFamily="18" charset="0"/>
                          <a:cs typeface="Times New Roman" pitchFamily="18" charset="0"/>
                        </a:rPr>
                        <a:t>Blockchain for Cybersecurity</a:t>
                      </a:r>
                    </a:p>
                  </a:txBody>
                  <a:tcPr marL="50854" marR="50854" marT="25427" marB="25427" anchor="ctr"/>
                </a:tc>
                <a:tc>
                  <a:txBody>
                    <a:bodyPr/>
                    <a:lstStyle/>
                    <a:p>
                      <a:pPr algn="l"/>
                      <a:r>
                        <a:rPr lang="en-US" sz="1500" dirty="0">
                          <a:latin typeface="Times New Roman" pitchFamily="18" charset="0"/>
                          <a:cs typeface="Times New Roman" pitchFamily="18" charset="0"/>
                        </a:rPr>
                        <a:t>Highlighted immutable logging and decentralized identity</a:t>
                      </a:r>
                    </a:p>
                  </a:txBody>
                  <a:tcPr marL="50854" marR="50854" marT="25427" marB="25427" anchor="ctr"/>
                </a:tc>
                <a:tc>
                  <a:txBody>
                    <a:bodyPr/>
                    <a:lstStyle/>
                    <a:p>
                      <a:pPr algn="l"/>
                      <a:r>
                        <a:rPr lang="en-US" sz="1500" dirty="0">
                          <a:latin typeface="Times New Roman" pitchFamily="18" charset="0"/>
                          <a:cs typeface="Times New Roman" pitchFamily="18" charset="0"/>
                        </a:rPr>
                        <a:t>Limited focus on access control</a:t>
                      </a:r>
                    </a:p>
                  </a:txBody>
                  <a:tcPr marL="50854" marR="50854" marT="25427" marB="25427" anchor="ctr"/>
                </a:tc>
                <a:extLst>
                  <a:ext uri="{0D108BD9-81ED-4DB2-BD59-A6C34878D82A}">
                    <a16:rowId xmlns:a16="http://schemas.microsoft.com/office/drawing/2014/main" val="10005"/>
                  </a:ext>
                </a:extLst>
              </a:tr>
              <a:tr h="566782">
                <a:tc>
                  <a:txBody>
                    <a:bodyPr/>
                    <a:lstStyle/>
                    <a:p>
                      <a:pPr algn="l"/>
                      <a:r>
                        <a:rPr lang="en-IN" sz="1500">
                          <a:latin typeface="Times New Roman" pitchFamily="18" charset="0"/>
                          <a:cs typeface="Times New Roman" pitchFamily="18" charset="0"/>
                        </a:rPr>
                        <a:t>Kong et al. (2024)</a:t>
                      </a:r>
                    </a:p>
                  </a:txBody>
                  <a:tcPr marL="50854" marR="50854" marT="25427" marB="25427" anchor="ctr"/>
                </a:tc>
                <a:tc>
                  <a:txBody>
                    <a:bodyPr/>
                    <a:lstStyle/>
                    <a:p>
                      <a:pPr algn="l"/>
                      <a:r>
                        <a:rPr lang="en-IN" sz="1500">
                          <a:latin typeface="Times New Roman" pitchFamily="18" charset="0"/>
                          <a:cs typeface="Times New Roman" pitchFamily="18" charset="0"/>
                        </a:rPr>
                        <a:t>Continuous Authentication</a:t>
                      </a:r>
                    </a:p>
                  </a:txBody>
                  <a:tcPr marL="50854" marR="50854" marT="25427" marB="25427" anchor="ctr"/>
                </a:tc>
                <a:tc>
                  <a:txBody>
                    <a:bodyPr/>
                    <a:lstStyle/>
                    <a:p>
                      <a:pPr algn="l"/>
                      <a:r>
                        <a:rPr lang="en-IN" sz="1500">
                          <a:latin typeface="Times New Roman" pitchFamily="18" charset="0"/>
                          <a:cs typeface="Times New Roman" pitchFamily="18" charset="0"/>
                        </a:rPr>
                        <a:t>Blockchain-enabled continuous trust model</a:t>
                      </a:r>
                    </a:p>
                  </a:txBody>
                  <a:tcPr marL="50854" marR="50854" marT="25427" marB="25427" anchor="ctr"/>
                </a:tc>
                <a:tc>
                  <a:txBody>
                    <a:bodyPr/>
                    <a:lstStyle/>
                    <a:p>
                      <a:pPr algn="l"/>
                      <a:r>
                        <a:rPr lang="en-US" sz="1500" dirty="0">
                          <a:latin typeface="Times New Roman" pitchFamily="18" charset="0"/>
                          <a:cs typeface="Times New Roman" pitchFamily="18" charset="0"/>
                        </a:rPr>
                        <a:t>Not fully integrated with ZTNA</a:t>
                      </a:r>
                    </a:p>
                  </a:txBody>
                  <a:tcPr marL="50854" marR="50854" marT="25427" marB="25427"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460143" y="152400"/>
            <a:ext cx="2531462" cy="461665"/>
          </a:xfrm>
          <a:prstGeom prst="rect">
            <a:avLst/>
          </a:prstGeom>
        </p:spPr>
        <p:txBody>
          <a:bodyPr wrap="none">
            <a:spAutoFit/>
          </a:bodyPr>
          <a:lstStyle/>
          <a:p>
            <a:pPr algn="r"/>
            <a:r>
              <a:rPr lang="en-US" sz="2400" dirty="0">
                <a:latin typeface="Times New Roman" pitchFamily="18" charset="0"/>
                <a:cs typeface="Times New Roman" pitchFamily="18" charset="0"/>
              </a:rPr>
              <a:t>Problem Statement</a:t>
            </a: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5</a:t>
            </a:fld>
            <a:endParaRPr lang="en-US"/>
          </a:p>
        </p:txBody>
      </p:sp>
      <p:sp>
        <p:nvSpPr>
          <p:cNvPr id="7" name="Rectangle 6"/>
          <p:cNvSpPr/>
          <p:nvPr/>
        </p:nvSpPr>
        <p:spPr>
          <a:xfrm>
            <a:off x="1143000" y="1259921"/>
            <a:ext cx="6934200" cy="4524315"/>
          </a:xfrm>
          <a:prstGeom prst="rect">
            <a:avLst/>
          </a:prstGeom>
        </p:spPr>
        <p:txBody>
          <a:bodyPr wrap="square">
            <a:spAutoFit/>
          </a:bodyPr>
          <a:lstStyle/>
          <a:p>
            <a:pPr algn="just"/>
            <a:r>
              <a:rPr lang="en-US" dirty="0">
                <a:latin typeface="Times New Roman" pitchFamily="18" charset="0"/>
                <a:cs typeface="Times New Roman" pitchFamily="18" charset="0"/>
              </a:rPr>
              <a:t>	Existing </a:t>
            </a:r>
            <a:r>
              <a:rPr lang="en-US" b="1" dirty="0">
                <a:latin typeface="Times New Roman" pitchFamily="18" charset="0"/>
                <a:cs typeface="Times New Roman" pitchFamily="18" charset="0"/>
              </a:rPr>
              <a:t>Zero Trust Network Access (ZTNA)</a:t>
            </a:r>
            <a:r>
              <a:rPr lang="en-US" dirty="0">
                <a:latin typeface="Times New Roman" pitchFamily="18" charset="0"/>
                <a:cs typeface="Times New Roman" pitchFamily="18" charset="0"/>
              </a:rPr>
              <a:t> mechanisms rely heavily on </a:t>
            </a:r>
            <a:r>
              <a:rPr lang="en-US" b="1" dirty="0">
                <a:latin typeface="Times New Roman" pitchFamily="18" charset="0"/>
                <a:cs typeface="Times New Roman" pitchFamily="18" charset="0"/>
              </a:rPr>
              <a:t>centralized identity providers, policy engines, and logging databases</a:t>
            </a:r>
            <a:r>
              <a:rPr lang="en-US" dirty="0">
                <a:latin typeface="Times New Roman" pitchFamily="18" charset="0"/>
                <a:cs typeface="Times New Roman" pitchFamily="18" charset="0"/>
              </a:rPr>
              <a:t>, making them vulnerable to single points of failure, insider manipulation, and limited audit transparency. In distributed and multi-cloud environments, these centralized components can be compromised, leading to unauthorized access and unreliable access decisions.</a:t>
            </a:r>
          </a:p>
          <a:p>
            <a:pPr algn="just"/>
            <a:r>
              <a:rPr lang="en-US" dirty="0">
                <a:latin typeface="Times New Roman" pitchFamily="18" charset="0"/>
                <a:cs typeface="Times New Roman" pitchFamily="18" charset="0"/>
              </a:rPr>
              <a:t>Moreover, traditional ZTNA solutions lack </a:t>
            </a:r>
            <a:r>
              <a:rPr lang="en-US" b="1" dirty="0">
                <a:latin typeface="Times New Roman" pitchFamily="18" charset="0"/>
                <a:cs typeface="Times New Roman" pitchFamily="18" charset="0"/>
              </a:rPr>
              <a:t>trustless verification</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tamper-proof audit trails</a:t>
            </a:r>
            <a:r>
              <a:rPr lang="en-US" dirty="0">
                <a:latin typeface="Times New Roman" pitchFamily="18" charset="0"/>
                <a:cs typeface="Times New Roman" pitchFamily="18" charset="0"/>
              </a:rPr>
              <a:t>, as access logs can be altered or deleted by privileged insiders. Continuous trust evaluation is often partially implemented and still depends on centralized decision-making entities.</a:t>
            </a:r>
          </a:p>
          <a:p>
            <a:pPr algn="just"/>
            <a:r>
              <a:rPr lang="en-US" dirty="0">
                <a:latin typeface="Times New Roman" pitchFamily="18" charset="0"/>
                <a:cs typeface="Times New Roman" pitchFamily="18" charset="0"/>
              </a:rPr>
              <a:t>Therefore, there is a critical need for a </a:t>
            </a:r>
            <a:r>
              <a:rPr lang="en-US" b="1" dirty="0">
                <a:latin typeface="Times New Roman" pitchFamily="18" charset="0"/>
                <a:cs typeface="Times New Roman" pitchFamily="18" charset="0"/>
              </a:rPr>
              <a:t>decentralized, transparent, and verifiable access control system</a:t>
            </a:r>
            <a:r>
              <a:rPr lang="en-US" dirty="0">
                <a:latin typeface="Times New Roman" pitchFamily="18" charset="0"/>
                <a:cs typeface="Times New Roman" pitchFamily="18" charset="0"/>
              </a:rPr>
              <a:t> that enforces Zero Trust principles through </a:t>
            </a:r>
            <a:r>
              <a:rPr lang="en-US" b="1" dirty="0" err="1">
                <a:latin typeface="Times New Roman" pitchFamily="18" charset="0"/>
                <a:cs typeface="Times New Roman" pitchFamily="18" charset="0"/>
              </a:rPr>
              <a:t>blockchain</a:t>
            </a:r>
            <a:r>
              <a:rPr lang="en-US" b="1" dirty="0">
                <a:latin typeface="Times New Roman" pitchFamily="18" charset="0"/>
                <a:cs typeface="Times New Roman" pitchFamily="18" charset="0"/>
              </a:rPr>
              <a:t>-based identity verification</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smart contract–driven policy enforcement</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immutable audit logging</a:t>
            </a:r>
            <a:r>
              <a:rPr lang="en-US" dirty="0">
                <a:latin typeface="Times New Roman" pitchFamily="18" charset="0"/>
                <a:cs typeface="Times New Roman" pitchFamily="18" charset="0"/>
              </a:rPr>
              <a:t>, without relying on a single controlling authority.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288621" y="152400"/>
            <a:ext cx="2702984" cy="461665"/>
          </a:xfrm>
          <a:prstGeom prst="rect">
            <a:avLst/>
          </a:prstGeom>
        </p:spPr>
        <p:txBody>
          <a:bodyPr wrap="none">
            <a:spAutoFit/>
          </a:bodyPr>
          <a:lstStyle/>
          <a:p>
            <a:pPr algn="r"/>
            <a:r>
              <a:rPr lang="en-US" sz="2400" dirty="0">
                <a:latin typeface="Times New Roman" pitchFamily="18" charset="0"/>
                <a:cs typeface="Times New Roman" pitchFamily="18" charset="0"/>
              </a:rPr>
              <a:t>Research Objectives</a:t>
            </a:r>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6</a:t>
            </a:fld>
            <a:endParaRPr lang="en-US"/>
          </a:p>
        </p:txBody>
      </p:sp>
      <p:sp>
        <p:nvSpPr>
          <p:cNvPr id="7" name="Rectangle 3">
            <a:extLst>
              <a:ext uri="{FF2B5EF4-FFF2-40B4-BE49-F238E27FC236}">
                <a16:creationId xmlns:a16="http://schemas.microsoft.com/office/drawing/2014/main" id="{FE06B02F-7019-91AF-0B8B-18F2F8496D53}"/>
              </a:ext>
            </a:extLst>
          </p:cNvPr>
          <p:cNvSpPr>
            <a:spLocks noChangeArrowheads="1"/>
          </p:cNvSpPr>
          <p:nvPr/>
        </p:nvSpPr>
        <p:spPr bwMode="auto">
          <a:xfrm>
            <a:off x="867327" y="1156901"/>
            <a:ext cx="759087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Blockchain-based Zero Trust Network Access (ZTNA)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secure data access.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contracts using Solidity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decentralized and automated access control.</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tamper-proof storage of user activities and access logs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Ethereum blockchain.</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apply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Attribute-Based Access Control (ABAC)</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fine-grained and context-aware authorization.</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protect sensitive data using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AES encryption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before storage and transmission.</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and integrate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Django-based backend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secure interaction between users and the blockchain.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039915" y="152400"/>
            <a:ext cx="3951723" cy="461665"/>
          </a:xfrm>
          <a:prstGeom prst="rect">
            <a:avLst/>
          </a:prstGeom>
        </p:spPr>
        <p:txBody>
          <a:bodyPr wrap="none">
            <a:spAutoFit/>
          </a:bodyPr>
          <a:lstStyle/>
          <a:p>
            <a:pPr algn="r"/>
            <a:r>
              <a:rPr lang="en-US" sz="2400" dirty="0">
                <a:latin typeface="Times New Roman" pitchFamily="18" charset="0"/>
                <a:cs typeface="Times New Roman" pitchFamily="18" charset="0"/>
              </a:rPr>
              <a:t>Proposed Solution (Finalized) </a:t>
            </a: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7</a:t>
            </a:fld>
            <a:endParaRPr lang="en-US"/>
          </a:p>
        </p:txBody>
      </p:sp>
      <p:sp>
        <p:nvSpPr>
          <p:cNvPr id="2" name="Rectangle 1"/>
          <p:cNvSpPr/>
          <p:nvPr/>
        </p:nvSpPr>
        <p:spPr>
          <a:xfrm>
            <a:off x="990600" y="1339592"/>
            <a:ext cx="7391400" cy="4524315"/>
          </a:xfrm>
          <a:prstGeom prst="rect">
            <a:avLst/>
          </a:prstGeom>
        </p:spPr>
        <p:txBody>
          <a:bodyPr wrap="square">
            <a:spAutoFit/>
          </a:bodyPr>
          <a:lstStyle/>
          <a:p>
            <a:r>
              <a:rPr lang="en-US" dirty="0">
                <a:latin typeface="Times New Roman" pitchFamily="18" charset="0"/>
                <a:cs typeface="Times New Roman" pitchFamily="18" charset="0"/>
              </a:rPr>
              <a:t>The system redesigns Zero Trust access by shifting verification and decision-making from centralized servers to a distributed control model. Instead of relying on a single authority, access validation is executed through a decentralized framework that ensures transparency and integrity.</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The design emphasizes</a:t>
            </a:r>
            <a:r>
              <a:rPr lang="en-US" dirty="0">
                <a:latin typeface="Times New Roman" pitchFamily="18" charset="0"/>
                <a:cs typeface="Times New Roman" pitchFamily="18" charset="0"/>
              </a:rPr>
              <a:t>:</a:t>
            </a:r>
          </a:p>
          <a:p>
            <a:pPr marL="342900" indent="-342900">
              <a:buFont typeface="+mj-lt"/>
              <a:buAutoNum type="arabicPeriod"/>
            </a:pPr>
            <a:endParaRPr lang="en-US" dirty="0">
              <a:latin typeface="Times New Roman" pitchFamily="18" charset="0"/>
              <a:cs typeface="Times New Roman" pitchFamily="18" charset="0"/>
            </a:endParaRPr>
          </a:p>
          <a:p>
            <a:pPr marL="342900" indent="-342900">
              <a:buFont typeface="+mj-lt"/>
              <a:buAutoNum type="arabicPeriod"/>
            </a:pPr>
            <a:r>
              <a:rPr lang="en-US" dirty="0">
                <a:latin typeface="Times New Roman" pitchFamily="18" charset="0"/>
                <a:cs typeface="Times New Roman" pitchFamily="18" charset="0"/>
              </a:rPr>
              <a:t>Separation of trust validation from traditional identity servers</a:t>
            </a:r>
          </a:p>
          <a:p>
            <a:pPr marL="342900" indent="-342900">
              <a:buFont typeface="+mj-lt"/>
              <a:buAutoNum type="arabicPeriod"/>
            </a:pPr>
            <a:endParaRPr lang="en-US" dirty="0">
              <a:latin typeface="Times New Roman" pitchFamily="18" charset="0"/>
              <a:cs typeface="Times New Roman" pitchFamily="18" charset="0"/>
            </a:endParaRPr>
          </a:p>
          <a:p>
            <a:pPr marL="342900" indent="-342900">
              <a:buFont typeface="+mj-lt"/>
              <a:buAutoNum type="arabicPeriod"/>
            </a:pPr>
            <a:r>
              <a:rPr lang="en-US" dirty="0">
                <a:latin typeface="Times New Roman" pitchFamily="18" charset="0"/>
                <a:cs typeface="Times New Roman" pitchFamily="18" charset="0"/>
              </a:rPr>
              <a:t>Cryptographic assurance of access integrity</a:t>
            </a:r>
          </a:p>
          <a:p>
            <a:pPr marL="342900" indent="-342900">
              <a:buFont typeface="+mj-lt"/>
              <a:buAutoNum type="arabicPeriod"/>
            </a:pPr>
            <a:endParaRPr lang="en-US" dirty="0">
              <a:latin typeface="Times New Roman" pitchFamily="18" charset="0"/>
              <a:cs typeface="Times New Roman" pitchFamily="18" charset="0"/>
            </a:endParaRPr>
          </a:p>
          <a:p>
            <a:pPr marL="342900" indent="-342900">
              <a:buFont typeface="+mj-lt"/>
              <a:buAutoNum type="arabicPeriod"/>
            </a:pPr>
            <a:r>
              <a:rPr lang="en-US" dirty="0">
                <a:latin typeface="Times New Roman" pitchFamily="18" charset="0"/>
                <a:cs typeface="Times New Roman" pitchFamily="18" charset="0"/>
              </a:rPr>
              <a:t>Autonomous rule execution without manual oversight</a:t>
            </a:r>
          </a:p>
          <a:p>
            <a:pPr marL="342900" indent="-342900">
              <a:buFont typeface="+mj-lt"/>
              <a:buAutoNum type="arabicPeriod"/>
            </a:pPr>
            <a:endParaRPr lang="en-US" dirty="0">
              <a:latin typeface="Times New Roman" pitchFamily="18" charset="0"/>
              <a:cs typeface="Times New Roman" pitchFamily="18" charset="0"/>
            </a:endParaRPr>
          </a:p>
          <a:p>
            <a:pPr marL="342900" indent="-342900">
              <a:buFont typeface="+mj-lt"/>
              <a:buAutoNum type="arabicPeriod"/>
            </a:pPr>
            <a:r>
              <a:rPr lang="en-US" dirty="0">
                <a:latin typeface="Times New Roman" pitchFamily="18" charset="0"/>
                <a:cs typeface="Times New Roman" pitchFamily="18" charset="0"/>
              </a:rPr>
              <a:t>Transparent verification of access activities</a:t>
            </a:r>
          </a:p>
          <a:p>
            <a:pPr marL="342900" indent="-342900">
              <a:buFont typeface="+mj-lt"/>
              <a:buAutoNum type="arabicPeriod"/>
            </a:pPr>
            <a:endParaRPr lang="en-US" dirty="0">
              <a:latin typeface="Times New Roman" pitchFamily="18" charset="0"/>
              <a:cs typeface="Times New Roman" pitchFamily="18" charset="0"/>
            </a:endParaRPr>
          </a:p>
          <a:p>
            <a:pPr marL="342900" indent="-342900">
              <a:buFont typeface="+mj-lt"/>
              <a:buAutoNum type="arabicPeriod"/>
            </a:pPr>
            <a:r>
              <a:rPr lang="en-US" dirty="0">
                <a:latin typeface="Times New Roman" pitchFamily="18" charset="0"/>
                <a:cs typeface="Times New Roman" pitchFamily="18" charset="0"/>
              </a:rPr>
              <a:t>High availability through distributed architecture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49473" y="152400"/>
            <a:ext cx="1842171" cy="461665"/>
          </a:xfrm>
          <a:prstGeom prst="rect">
            <a:avLst/>
          </a:prstGeom>
        </p:spPr>
        <p:txBody>
          <a:bodyPr wrap="none">
            <a:spAutoFit/>
          </a:bodyPr>
          <a:lstStyle/>
          <a:p>
            <a:pPr algn="r"/>
            <a:r>
              <a:rPr lang="en-US" sz="2400" dirty="0">
                <a:latin typeface="Times New Roman" pitchFamily="18" charset="0"/>
                <a:cs typeface="Times New Roman" pitchFamily="18" charset="0"/>
              </a:rPr>
              <a:t>Methodology</a:t>
            </a: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8</a:t>
            </a:fld>
            <a:endParaRPr lang="en-US"/>
          </a:p>
        </p:txBody>
      </p:sp>
      <p:sp>
        <p:nvSpPr>
          <p:cNvPr id="2" name="Rectangle 1"/>
          <p:cNvSpPr/>
          <p:nvPr/>
        </p:nvSpPr>
        <p:spPr>
          <a:xfrm>
            <a:off x="762000" y="1500048"/>
            <a:ext cx="7924800" cy="3970318"/>
          </a:xfrm>
          <a:prstGeom prst="rect">
            <a:avLst/>
          </a:prstGeom>
        </p:spPr>
        <p:txBody>
          <a:bodyPr wrap="square">
            <a:spAutoFit/>
          </a:bodyPr>
          <a:lstStyle/>
          <a:p>
            <a:r>
              <a:rPr lang="en-US" b="1" dirty="0">
                <a:latin typeface="Times New Roman" panose="02020603050405020304" pitchFamily="18" charset="0"/>
                <a:cs typeface="Times New Roman" pitchFamily="18" charset="0"/>
              </a:rPr>
              <a:t>The development process followed a structured research and implementation pipeline:</a:t>
            </a:r>
          </a:p>
          <a:p>
            <a:endParaRPr lang="en-US" dirty="0">
              <a:latin typeface="Times New Roman" panose="02020603050405020304" pitchFamily="18" charset="0"/>
              <a:cs typeface="Times New Roman" pitchFamily="18" charset="0"/>
            </a:endParaRPr>
          </a:p>
          <a:p>
            <a:r>
              <a:rPr lang="en-US" dirty="0">
                <a:latin typeface="Times New Roman" panose="02020603050405020304" pitchFamily="18" charset="0"/>
                <a:cs typeface="Times New Roman" pitchFamily="18" charset="0"/>
              </a:rPr>
              <a:t>1. Analyzed structural limitations of existing Zero Trust models.</a:t>
            </a:r>
          </a:p>
          <a:p>
            <a:endParaRPr lang="en-US" dirty="0">
              <a:latin typeface="Times New Roman" panose="02020603050405020304" pitchFamily="18" charset="0"/>
              <a:cs typeface="Times New Roman" pitchFamily="18" charset="0"/>
            </a:endParaRPr>
          </a:p>
          <a:p>
            <a:r>
              <a:rPr lang="en-US" dirty="0">
                <a:latin typeface="Times New Roman" panose="02020603050405020304" pitchFamily="18" charset="0"/>
                <a:cs typeface="Times New Roman" pitchFamily="18" charset="0"/>
              </a:rPr>
              <a:t>2. Designed a distributed security architecture based on decentralized validation.</a:t>
            </a:r>
          </a:p>
          <a:p>
            <a:endParaRPr lang="en-US" dirty="0">
              <a:latin typeface="Times New Roman" panose="02020603050405020304" pitchFamily="18" charset="0"/>
              <a:cs typeface="Times New Roman" pitchFamily="18" charset="0"/>
            </a:endParaRPr>
          </a:p>
          <a:p>
            <a:r>
              <a:rPr lang="en-US" dirty="0">
                <a:latin typeface="Times New Roman" panose="02020603050405020304" pitchFamily="18" charset="0"/>
                <a:cs typeface="Times New Roman" pitchFamily="18" charset="0"/>
              </a:rPr>
              <a:t>3. Modeled system components and interaction layers.</a:t>
            </a:r>
          </a:p>
          <a:p>
            <a:endParaRPr lang="en-US" dirty="0">
              <a:latin typeface="Times New Roman" panose="02020603050405020304" pitchFamily="18" charset="0"/>
              <a:cs typeface="Times New Roman" pitchFamily="18" charset="0"/>
            </a:endParaRPr>
          </a:p>
          <a:p>
            <a:r>
              <a:rPr lang="en-US" dirty="0">
                <a:latin typeface="Times New Roman" panose="02020603050405020304" pitchFamily="18" charset="0"/>
                <a:cs typeface="Times New Roman" pitchFamily="18" charset="0"/>
              </a:rPr>
              <a:t>4. Implemented programmable governance logic within a blockchain environment.</a:t>
            </a:r>
          </a:p>
          <a:p>
            <a:endParaRPr lang="en-US" dirty="0">
              <a:latin typeface="Times New Roman" panose="02020603050405020304" pitchFamily="18" charset="0"/>
              <a:cs typeface="Times New Roman" pitchFamily="18" charset="0"/>
            </a:endParaRPr>
          </a:p>
          <a:p>
            <a:r>
              <a:rPr lang="en-US" dirty="0">
                <a:latin typeface="Times New Roman" panose="02020603050405020304" pitchFamily="18" charset="0"/>
                <a:cs typeface="Times New Roman" pitchFamily="18" charset="0"/>
              </a:rPr>
              <a:t>5. Integrated adaptive risk assessment for dynamic authorization.</a:t>
            </a:r>
          </a:p>
          <a:p>
            <a:endParaRPr lang="en-US" dirty="0">
              <a:latin typeface="Times New Roman" panose="02020603050405020304" pitchFamily="18" charset="0"/>
              <a:cs typeface="Times New Roman" pitchFamily="18" charset="0"/>
            </a:endParaRPr>
          </a:p>
          <a:p>
            <a:r>
              <a:rPr lang="en-US" dirty="0">
                <a:latin typeface="Times New Roman" panose="02020603050405020304" pitchFamily="18" charset="0"/>
                <a:cs typeface="Times New Roman" pitchFamily="18" charset="0"/>
              </a:rPr>
              <a:t>6. Conducted testing and validation to evaluate reliability and security.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280118" y="152400"/>
            <a:ext cx="4711546" cy="461665"/>
          </a:xfrm>
          <a:prstGeom prst="rect">
            <a:avLst/>
          </a:prstGeom>
        </p:spPr>
        <p:txBody>
          <a:bodyPr wrap="none">
            <a:spAutoFit/>
          </a:bodyPr>
          <a:lstStyle/>
          <a:p>
            <a:pPr algn="r"/>
            <a:r>
              <a:rPr lang="en-US" sz="2400" dirty="0">
                <a:latin typeface="Times New Roman" pitchFamily="18" charset="0"/>
                <a:cs typeface="Times New Roman" pitchFamily="18" charset="0"/>
              </a:rPr>
              <a:t>Architecture of the Proposed System</a:t>
            </a: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9</a:t>
            </a:fld>
            <a:endParaRPr lang="en-US"/>
          </a:p>
        </p:txBody>
      </p:sp>
      <p:sp>
        <p:nvSpPr>
          <p:cNvPr id="2" name="Rectangle 1"/>
          <p:cNvSpPr/>
          <p:nvPr/>
        </p:nvSpPr>
        <p:spPr>
          <a:xfrm>
            <a:off x="838200" y="1295400"/>
            <a:ext cx="7772400" cy="923330"/>
          </a:xfrm>
          <a:prstGeom prst="rect">
            <a:avLst/>
          </a:prstGeom>
        </p:spPr>
        <p:txBody>
          <a:bodyPr wrap="square">
            <a:spAutoFit/>
          </a:bodyPr>
          <a:lstStyle/>
          <a:p>
            <a:pPr algn="just"/>
            <a:r>
              <a:rPr lang="en-US" dirty="0">
                <a:latin typeface="Times New Roman" pitchFamily="18" charset="0"/>
                <a:cs typeface="Times New Roman" pitchFamily="18" charset="0"/>
              </a:rPr>
              <a:t>The proposed </a:t>
            </a:r>
            <a:r>
              <a:rPr lang="en-US" b="1" dirty="0">
                <a:latin typeface="Times New Roman" pitchFamily="18" charset="0"/>
                <a:cs typeface="Times New Roman" pitchFamily="18" charset="0"/>
              </a:rPr>
              <a:t>Blockchain-Based ZTNA System</a:t>
            </a:r>
            <a:r>
              <a:rPr lang="en-US" dirty="0">
                <a:latin typeface="Times New Roman" pitchFamily="18" charset="0"/>
                <a:cs typeface="Times New Roman" pitchFamily="18" charset="0"/>
              </a:rPr>
              <a:t> is designed as a </a:t>
            </a:r>
            <a:r>
              <a:rPr lang="en-US" b="1" dirty="0">
                <a:latin typeface="Times New Roman" pitchFamily="18" charset="0"/>
                <a:cs typeface="Times New Roman" pitchFamily="18" charset="0"/>
              </a:rPr>
              <a:t>layered architecture</a:t>
            </a:r>
            <a:r>
              <a:rPr lang="en-US" dirty="0">
                <a:latin typeface="Times New Roman" pitchFamily="18" charset="0"/>
                <a:cs typeface="Times New Roman" pitchFamily="18" charset="0"/>
              </a:rPr>
              <a:t> to enforce Zero Trust principles with decentralized verification and immutable auditing.</a:t>
            </a:r>
          </a:p>
        </p:txBody>
      </p:sp>
      <p:pic>
        <p:nvPicPr>
          <p:cNvPr id="3" name="Picture 2">
            <a:extLst>
              <a:ext uri="{FF2B5EF4-FFF2-40B4-BE49-F238E27FC236}">
                <a16:creationId xmlns:a16="http://schemas.microsoft.com/office/drawing/2014/main" id="{764B0D98-414C-5B63-393B-D909478315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2286001"/>
            <a:ext cx="6400800" cy="426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747144" y="152400"/>
            <a:ext cx="2244525" cy="461665"/>
          </a:xfrm>
          <a:prstGeom prst="rect">
            <a:avLst/>
          </a:prstGeom>
        </p:spPr>
        <p:txBody>
          <a:bodyPr wrap="none">
            <a:spAutoFit/>
          </a:bodyPr>
          <a:lstStyle/>
          <a:p>
            <a:pPr algn="r"/>
            <a:r>
              <a:rPr lang="en-US" sz="2400" dirty="0">
                <a:latin typeface="Times New Roman" pitchFamily="18" charset="0"/>
                <a:cs typeface="Times New Roman" pitchFamily="18" charset="0"/>
              </a:rPr>
              <a:t>System Modules</a:t>
            </a: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10</a:t>
            </a:fld>
            <a:endParaRPr lang="en-US"/>
          </a:p>
        </p:txBody>
      </p:sp>
      <p:sp>
        <p:nvSpPr>
          <p:cNvPr id="3" name="Rectangle 2"/>
          <p:cNvSpPr/>
          <p:nvPr/>
        </p:nvSpPr>
        <p:spPr>
          <a:xfrm>
            <a:off x="762000" y="1143000"/>
            <a:ext cx="7696200" cy="5355312"/>
          </a:xfrm>
          <a:prstGeom prst="rect">
            <a:avLst/>
          </a:prstGeom>
        </p:spPr>
        <p:txBody>
          <a:bodyPr wrap="square">
            <a:spAutoFit/>
          </a:bodyPr>
          <a:lstStyle/>
          <a:p>
            <a:r>
              <a:rPr lang="en-US" dirty="0">
                <a:latin typeface="Times New Roman" pitchFamily="18" charset="0"/>
                <a:cs typeface="Times New Roman" pitchFamily="18" charset="0"/>
              </a:rPr>
              <a:t>The system is structured into independent but interconnected functional layers:</a:t>
            </a:r>
          </a:p>
          <a:p>
            <a:endParaRPr lang="en-US" dirty="0">
              <a:latin typeface="Times New Roman" pitchFamily="18" charset="0"/>
              <a:cs typeface="Times New Roman" pitchFamily="18" charset="0"/>
            </a:endParaRPr>
          </a:p>
          <a:p>
            <a:pPr marL="342900" indent="-342900">
              <a:buAutoNum type="arabicPeriod"/>
            </a:pPr>
            <a:r>
              <a:rPr lang="en-US" b="1" dirty="0">
                <a:latin typeface="Times New Roman" pitchFamily="18" charset="0"/>
                <a:cs typeface="Times New Roman" pitchFamily="18" charset="0"/>
              </a:rPr>
              <a:t>Credential Registration &amp; Verification Layer </a:t>
            </a:r>
          </a:p>
          <a:p>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Manages secure onboarding and validation of user and device credentials.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2. Policy Governance Engine</a:t>
            </a:r>
          </a:p>
          <a:p>
            <a:r>
              <a:rPr lang="en-US" dirty="0">
                <a:latin typeface="Times New Roman" pitchFamily="18" charset="0"/>
                <a:cs typeface="Times New Roman" pitchFamily="18" charset="0"/>
              </a:rPr>
              <a:t>      - Encodes and evaluates authorization rules in a programmable environment.</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3. Contextual Risk Assessment Unit</a:t>
            </a:r>
          </a:p>
          <a:p>
            <a:r>
              <a:rPr lang="en-US" dirty="0">
                <a:latin typeface="Times New Roman" pitchFamily="18" charset="0"/>
                <a:cs typeface="Times New Roman" pitchFamily="18" charset="0"/>
              </a:rPr>
              <a:t>      - Computes dynamic trust levels using behavioral and environmental inputs.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4. Authorization Controller</a:t>
            </a:r>
          </a:p>
          <a:p>
            <a:r>
              <a:rPr lang="en-US" dirty="0">
                <a:latin typeface="Times New Roman" pitchFamily="18" charset="0"/>
                <a:cs typeface="Times New Roman" pitchFamily="18" charset="0"/>
              </a:rPr>
              <a:t>       - Determines final access outcome based on validation and risk metrics.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5. Distributed Activity Recorder</a:t>
            </a:r>
          </a:p>
          <a:p>
            <a:r>
              <a:rPr lang="en-US" dirty="0">
                <a:latin typeface="Times New Roman" pitchFamily="18" charset="0"/>
                <a:cs typeface="Times New Roman" pitchFamily="18" charset="0"/>
              </a:rPr>
              <a:t>       - Maintains verifiable and tamper-resistant access event records.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6. Secure Access Gateway</a:t>
            </a:r>
          </a:p>
          <a:p>
            <a:r>
              <a:rPr lang="en-US" dirty="0">
                <a:latin typeface="Times New Roman" pitchFamily="18" charset="0"/>
                <a:cs typeface="Times New Roman" pitchFamily="18" charset="0"/>
              </a:rPr>
              <a:t>        - Acts as the enforcement interface between users and protected resources.</a:t>
            </a:r>
            <a:endParaRPr lang="en-US" b="1"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41629" y="152400"/>
            <a:ext cx="5243808" cy="1200329"/>
          </a:xfrm>
          <a:prstGeom prst="rect">
            <a:avLst/>
          </a:prstGeom>
        </p:spPr>
        <p:txBody>
          <a:bodyPr wrap="none">
            <a:spAutoFit/>
          </a:bodyPr>
          <a:lstStyle/>
          <a:p>
            <a:pPr algn="r"/>
            <a:r>
              <a:rPr lang="en-US" sz="2400" dirty="0">
                <a:latin typeface="Times New Roman" pitchFamily="18" charset="0"/>
                <a:cs typeface="Times New Roman" pitchFamily="18" charset="0"/>
              </a:rPr>
              <a:t>System Design of the Proposed Solution </a:t>
            </a:r>
          </a:p>
          <a:p>
            <a:pPr algn="r"/>
            <a:endParaRPr lang="en-US" sz="2400" dirty="0">
              <a:latin typeface="Times New Roman" pitchFamily="18" charset="0"/>
              <a:cs typeface="Times New Roman" pitchFamily="18" charset="0"/>
            </a:endParaRPr>
          </a:p>
          <a:p>
            <a:pPr algn="r"/>
            <a:endParaRPr lang="en-US" sz="2400" dirty="0">
              <a:latin typeface="Times New Roman" pitchFamily="18" charset="0"/>
              <a:cs typeface="Times New Roman" pitchFamily="18" charset="0"/>
            </a:endParaRP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11</a:t>
            </a:fld>
            <a:endParaRPr lang="en-US"/>
          </a:p>
        </p:txBody>
      </p:sp>
      <p:sp>
        <p:nvSpPr>
          <p:cNvPr id="2" name="Rectangle 1"/>
          <p:cNvSpPr/>
          <p:nvPr/>
        </p:nvSpPr>
        <p:spPr>
          <a:xfrm>
            <a:off x="1524000" y="1524000"/>
            <a:ext cx="6248400" cy="3970318"/>
          </a:xfrm>
          <a:prstGeom prst="rect">
            <a:avLst/>
          </a:prstGeom>
        </p:spPr>
        <p:txBody>
          <a:bodyPr wrap="square">
            <a:spAutoFit/>
          </a:bodyPr>
          <a:lstStyle/>
          <a:p>
            <a:pPr algn="just"/>
            <a:r>
              <a:rPr lang="en-US" dirty="0">
                <a:latin typeface="Times New Roman" pitchFamily="18" charset="0"/>
                <a:cs typeface="Times New Roman" pitchFamily="18" charset="0"/>
              </a:rPr>
              <a:t>The system design of the </a:t>
            </a:r>
            <a:r>
              <a:rPr lang="en-US" b="1" dirty="0">
                <a:latin typeface="Times New Roman" pitchFamily="18" charset="0"/>
                <a:cs typeface="Times New Roman" pitchFamily="18" charset="0"/>
              </a:rPr>
              <a:t>Blockchain-Based Zero Trust Network Access (ZTNA) System</a:t>
            </a:r>
            <a:r>
              <a:rPr lang="en-US" dirty="0">
                <a:latin typeface="Times New Roman" pitchFamily="18" charset="0"/>
                <a:cs typeface="Times New Roman" pitchFamily="18" charset="0"/>
              </a:rPr>
              <a:t> defines how the proposed components interact to deliver secure, decentralized, and continuous access control. The design translates the architectural layers into implementable modules and workflows using </a:t>
            </a:r>
            <a:r>
              <a:rPr lang="en-US" b="1" dirty="0">
                <a:latin typeface="Times New Roman" pitchFamily="18" charset="0"/>
                <a:cs typeface="Times New Roman" pitchFamily="18" charset="0"/>
              </a:rPr>
              <a:t>UML diagrams</a:t>
            </a:r>
            <a:r>
              <a:rPr lang="en-US" dirty="0">
                <a:latin typeface="Times New Roman" pitchFamily="18" charset="0"/>
                <a:cs typeface="Times New Roman" pitchFamily="18" charset="0"/>
              </a:rPr>
              <a:t> for clarity.</a:t>
            </a:r>
          </a:p>
          <a:p>
            <a:pPr algn="just"/>
            <a:endParaRPr lang="en-US" dirty="0">
              <a:latin typeface="Times New Roman" pitchFamily="18" charset="0"/>
              <a:cs typeface="Times New Roman" pitchFamily="18" charset="0"/>
            </a:endParaRPr>
          </a:p>
          <a:p>
            <a:pPr algn="just"/>
            <a:r>
              <a:rPr lang="en-US" b="1" u="sng" dirty="0">
                <a:latin typeface="Times New Roman" pitchFamily="18" charset="0"/>
                <a:cs typeface="Times New Roman" pitchFamily="18" charset="0"/>
              </a:rPr>
              <a:t>UML diagrams are used to visually represent</a:t>
            </a:r>
            <a:r>
              <a:rPr lang="en-US" b="1" dirty="0">
                <a:latin typeface="Times New Roman" pitchFamily="18" charset="0"/>
                <a:cs typeface="Times New Roman" pitchFamily="18" charset="0"/>
              </a:rPr>
              <a:t>:</a:t>
            </a:r>
          </a:p>
          <a:p>
            <a:pPr algn="just"/>
            <a:endParaRPr lang="en-US" b="1" dirty="0">
              <a:latin typeface="Times New Roman" pitchFamily="18" charset="0"/>
              <a:cs typeface="Times New Roman" pitchFamily="18" charset="0"/>
            </a:endParaRPr>
          </a:p>
          <a:p>
            <a:pPr marL="285750" indent="-285750" algn="just">
              <a:buFont typeface="Arial" pitchFamily="34" charset="0"/>
              <a:buChar char="•"/>
            </a:pPr>
            <a:r>
              <a:rPr lang="en-US" dirty="0">
                <a:latin typeface="Times New Roman" pitchFamily="18" charset="0"/>
                <a:cs typeface="Times New Roman" pitchFamily="18" charset="0"/>
              </a:rPr>
              <a:t>User interaction with the ZTNA system.</a:t>
            </a:r>
          </a:p>
          <a:p>
            <a:pPr marL="285750" indent="-285750" algn="just">
              <a:buFont typeface="Arial" pitchFamily="34" charset="0"/>
              <a:buChar char="•"/>
            </a:pPr>
            <a:endParaRPr lang="en-US" dirty="0">
              <a:latin typeface="Times New Roman" pitchFamily="18" charset="0"/>
              <a:cs typeface="Times New Roman" pitchFamily="18" charset="0"/>
            </a:endParaRPr>
          </a:p>
          <a:p>
            <a:pPr marL="285750" indent="-285750" algn="just">
              <a:buFont typeface="Arial" pitchFamily="34" charset="0"/>
              <a:buChar char="•"/>
            </a:pPr>
            <a:r>
              <a:rPr lang="en-US" dirty="0">
                <a:latin typeface="Times New Roman" pitchFamily="18" charset="0"/>
                <a:cs typeface="Times New Roman" pitchFamily="18" charset="0"/>
              </a:rPr>
              <a:t>Access request processing flow.</a:t>
            </a:r>
          </a:p>
          <a:p>
            <a:pPr marL="285750" indent="-285750" algn="just">
              <a:buFont typeface="Arial" pitchFamily="34" charset="0"/>
              <a:buChar char="•"/>
            </a:pPr>
            <a:endParaRPr lang="en-US" dirty="0">
              <a:latin typeface="Times New Roman" pitchFamily="18" charset="0"/>
              <a:cs typeface="Times New Roman" pitchFamily="18" charset="0"/>
            </a:endParaRPr>
          </a:p>
          <a:p>
            <a:pPr marL="285750" indent="-285750" algn="just">
              <a:buFont typeface="Arial" pitchFamily="34" charset="0"/>
              <a:buChar char="•"/>
            </a:pPr>
            <a:r>
              <a:rPr lang="en-US" dirty="0">
                <a:latin typeface="Times New Roman" pitchFamily="18" charset="0"/>
                <a:cs typeface="Times New Roman" pitchFamily="18" charset="0"/>
              </a:rPr>
              <a:t>Decision-making based on identity, policy, and trust score.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41629" y="152400"/>
            <a:ext cx="5243808" cy="1200329"/>
          </a:xfrm>
          <a:prstGeom prst="rect">
            <a:avLst/>
          </a:prstGeom>
        </p:spPr>
        <p:txBody>
          <a:bodyPr wrap="none">
            <a:spAutoFit/>
          </a:bodyPr>
          <a:lstStyle/>
          <a:p>
            <a:pPr algn="r"/>
            <a:r>
              <a:rPr lang="en-US" sz="2400" dirty="0">
                <a:latin typeface="Times New Roman" pitchFamily="18" charset="0"/>
                <a:cs typeface="Times New Roman" pitchFamily="18" charset="0"/>
              </a:rPr>
              <a:t>System Design of the Proposed Solution </a:t>
            </a:r>
          </a:p>
          <a:p>
            <a:pPr algn="r"/>
            <a:endParaRPr lang="en-US" sz="2400" dirty="0">
              <a:latin typeface="Times New Roman" pitchFamily="18" charset="0"/>
              <a:cs typeface="Times New Roman" pitchFamily="18" charset="0"/>
            </a:endParaRPr>
          </a:p>
          <a:p>
            <a:pPr algn="r"/>
            <a:endParaRPr lang="en-US" sz="2400" dirty="0">
              <a:latin typeface="Times New Roman" pitchFamily="18" charset="0"/>
              <a:cs typeface="Times New Roman" pitchFamily="18" charset="0"/>
            </a:endParaRP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12</a:t>
            </a:fld>
            <a:endParaRPr lang="en-US"/>
          </a:p>
        </p:txBody>
      </p:sp>
      <p:pic>
        <p:nvPicPr>
          <p:cNvPr id="7" name="Picture 2" descr="PlantUML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00200"/>
            <a:ext cx="7153275" cy="421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100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029745" y="152400"/>
            <a:ext cx="4961936" cy="830997"/>
          </a:xfrm>
          <a:prstGeom prst="rect">
            <a:avLst/>
          </a:prstGeom>
        </p:spPr>
        <p:txBody>
          <a:bodyPr wrap="none">
            <a:spAutoFit/>
          </a:bodyPr>
          <a:lstStyle/>
          <a:p>
            <a:pPr algn="r"/>
            <a:r>
              <a:rPr lang="en-US" sz="2400" dirty="0">
                <a:latin typeface="Times New Roman" pitchFamily="18" charset="0"/>
                <a:cs typeface="Times New Roman" pitchFamily="18" charset="0"/>
              </a:rPr>
              <a:t>Implementation of the Proposed Work </a:t>
            </a:r>
          </a:p>
          <a:p>
            <a:pPr algn="r"/>
            <a:endParaRPr lang="en-US" sz="2400" dirty="0">
              <a:latin typeface="Times New Roman" pitchFamily="18" charset="0"/>
              <a:cs typeface="Times New Roman" pitchFamily="18" charset="0"/>
            </a:endParaRP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13</a:t>
            </a:fld>
            <a:endParaRPr lang="en-US"/>
          </a:p>
        </p:txBody>
      </p:sp>
      <p:sp>
        <p:nvSpPr>
          <p:cNvPr id="2" name="Rectangle 1"/>
          <p:cNvSpPr/>
          <p:nvPr/>
        </p:nvSpPr>
        <p:spPr>
          <a:xfrm>
            <a:off x="1676400" y="1444208"/>
            <a:ext cx="6096000" cy="4247317"/>
          </a:xfrm>
          <a:prstGeom prst="rect">
            <a:avLst/>
          </a:prstGeom>
        </p:spPr>
        <p:txBody>
          <a:bodyPr wrap="square">
            <a:spAutoFit/>
          </a:bodyPr>
          <a:lstStyle/>
          <a:p>
            <a:r>
              <a:rPr lang="en-IN" dirty="0">
                <a:latin typeface="Times New Roman" pitchFamily="18" charset="0"/>
                <a:cs typeface="Times New Roman" pitchFamily="18" charset="0"/>
              </a:rPr>
              <a:t>The proposed </a:t>
            </a:r>
            <a:r>
              <a:rPr lang="en-IN" b="1" dirty="0">
                <a:latin typeface="Times New Roman" pitchFamily="18" charset="0"/>
                <a:cs typeface="Times New Roman" pitchFamily="18" charset="0"/>
              </a:rPr>
              <a:t>Blockchain-Based Zero Trust Network Access (ZTNA) System</a:t>
            </a:r>
            <a:r>
              <a:rPr lang="en-IN" dirty="0">
                <a:latin typeface="Times New Roman" pitchFamily="18" charset="0"/>
                <a:cs typeface="Times New Roman" pitchFamily="18" charset="0"/>
              </a:rPr>
              <a:t> is implemented to provide decentralized identity verification, smart contract–based policy enforcement, continuous trust evaluation, and immutable audit logging.</a:t>
            </a:r>
          </a:p>
          <a:p>
            <a:endParaRPr lang="en-IN" dirty="0">
              <a:latin typeface="Times New Roman" pitchFamily="18" charset="0"/>
              <a:cs typeface="Times New Roman" pitchFamily="18" charset="0"/>
            </a:endParaRPr>
          </a:p>
          <a:p>
            <a:r>
              <a:rPr lang="en-IN" b="1" u="sng" dirty="0">
                <a:latin typeface="Times New Roman" pitchFamily="18" charset="0"/>
                <a:cs typeface="Times New Roman" pitchFamily="18" charset="0"/>
              </a:rPr>
              <a:t>Tools &amp; Tech </a:t>
            </a:r>
            <a:r>
              <a:rPr lang="en-IN" b="1" dirty="0">
                <a:latin typeface="Times New Roman" pitchFamily="18" charset="0"/>
                <a:cs typeface="Times New Roman" pitchFamily="18" charset="0"/>
              </a:rPr>
              <a:t>:</a:t>
            </a:r>
          </a:p>
          <a:p>
            <a:endParaRPr lang="en-IN" dirty="0">
              <a:latin typeface="Times New Roman" pitchFamily="18" charset="0"/>
              <a:cs typeface="Times New Roman" pitchFamily="18" charset="0"/>
            </a:endParaRPr>
          </a:p>
          <a:p>
            <a:pPr marL="285750" indent="-285750">
              <a:buFont typeface="Arial" pitchFamily="34" charset="0"/>
              <a:buChar char="•"/>
            </a:pPr>
            <a:r>
              <a:rPr lang="en-IN" b="1" dirty="0">
                <a:latin typeface="Times New Roman" pitchFamily="18" charset="0"/>
                <a:cs typeface="Times New Roman" pitchFamily="18" charset="0"/>
              </a:rPr>
              <a:t>Blockchain</a:t>
            </a:r>
            <a:r>
              <a:rPr lang="en-IN" dirty="0">
                <a:latin typeface="Times New Roman" pitchFamily="18" charset="0"/>
                <a:cs typeface="Times New Roman" pitchFamily="18" charset="0"/>
              </a:rPr>
              <a:t>: Ethereum </a:t>
            </a:r>
          </a:p>
          <a:p>
            <a:pPr marL="285750" indent="-285750">
              <a:buFont typeface="Arial" pitchFamily="34" charset="0"/>
              <a:buChar char="•"/>
            </a:pPr>
            <a:endParaRPr lang="en-IN" dirty="0">
              <a:latin typeface="Times New Roman" pitchFamily="18" charset="0"/>
              <a:cs typeface="Times New Roman" pitchFamily="18" charset="0"/>
            </a:endParaRPr>
          </a:p>
          <a:p>
            <a:pPr marL="285750" indent="-285750">
              <a:buFont typeface="Arial" pitchFamily="34" charset="0"/>
              <a:buChar char="•"/>
            </a:pPr>
            <a:r>
              <a:rPr lang="en-IN" b="1" dirty="0">
                <a:latin typeface="Times New Roman" pitchFamily="18" charset="0"/>
                <a:cs typeface="Times New Roman" pitchFamily="18" charset="0"/>
              </a:rPr>
              <a:t>Smart Contracts</a:t>
            </a:r>
            <a:r>
              <a:rPr lang="en-IN" dirty="0">
                <a:latin typeface="Times New Roman" pitchFamily="18" charset="0"/>
                <a:cs typeface="Times New Roman" pitchFamily="18" charset="0"/>
              </a:rPr>
              <a:t>: Solidity</a:t>
            </a:r>
          </a:p>
          <a:p>
            <a:pPr marL="285750" indent="-285750">
              <a:buFont typeface="Arial" pitchFamily="34" charset="0"/>
              <a:buChar char="•"/>
            </a:pPr>
            <a:endParaRPr lang="en-IN" dirty="0">
              <a:latin typeface="Times New Roman" pitchFamily="18" charset="0"/>
              <a:cs typeface="Times New Roman" pitchFamily="18" charset="0"/>
            </a:endParaRPr>
          </a:p>
          <a:p>
            <a:pPr marL="285750" indent="-285750">
              <a:buFont typeface="Arial" pitchFamily="34" charset="0"/>
              <a:buChar char="•"/>
            </a:pPr>
            <a:r>
              <a:rPr lang="en-IN" b="1" dirty="0">
                <a:latin typeface="Times New Roman" pitchFamily="18" charset="0"/>
                <a:cs typeface="Times New Roman" pitchFamily="18" charset="0"/>
              </a:rPr>
              <a:t>Backend/API</a:t>
            </a:r>
            <a:r>
              <a:rPr lang="en-IN" dirty="0">
                <a:latin typeface="Times New Roman" pitchFamily="18" charset="0"/>
                <a:cs typeface="Times New Roman" pitchFamily="18" charset="0"/>
              </a:rPr>
              <a:t>: Python Django</a:t>
            </a:r>
          </a:p>
          <a:p>
            <a:pPr marL="285750" indent="-285750">
              <a:buFont typeface="Arial" pitchFamily="34" charset="0"/>
              <a:buChar char="•"/>
            </a:pPr>
            <a:endParaRPr lang="en-IN" dirty="0">
              <a:latin typeface="Times New Roman" pitchFamily="18" charset="0"/>
              <a:cs typeface="Times New Roman" pitchFamily="18" charset="0"/>
            </a:endParaRPr>
          </a:p>
          <a:p>
            <a:pPr marL="285750" indent="-285750">
              <a:buFont typeface="Arial" pitchFamily="34" charset="0"/>
              <a:buChar char="•"/>
            </a:pPr>
            <a:r>
              <a:rPr lang="en-IN" b="1" dirty="0">
                <a:latin typeface="Times New Roman" pitchFamily="18" charset="0"/>
                <a:cs typeface="Times New Roman" pitchFamily="18" charset="0"/>
              </a:rPr>
              <a:t>Testing</a:t>
            </a:r>
            <a:r>
              <a:rPr lang="en-IN" dirty="0">
                <a:latin typeface="Times New Roman" pitchFamily="18" charset="0"/>
                <a:cs typeface="Times New Roman" pitchFamily="18" charset="0"/>
              </a:rPr>
              <a:t>: Remix</a:t>
            </a:r>
          </a:p>
          <a:p>
            <a:pPr marL="285750" indent="-285750">
              <a:buFont typeface="Arial" pitchFamily="34" charset="0"/>
              <a:buChar char="•"/>
            </a:pPr>
            <a:endParaRPr lang="en-IN"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029745" y="152400"/>
            <a:ext cx="4961936" cy="830997"/>
          </a:xfrm>
          <a:prstGeom prst="rect">
            <a:avLst/>
          </a:prstGeom>
        </p:spPr>
        <p:txBody>
          <a:bodyPr wrap="none">
            <a:spAutoFit/>
          </a:bodyPr>
          <a:lstStyle/>
          <a:p>
            <a:pPr algn="r"/>
            <a:r>
              <a:rPr lang="en-US" sz="2400" dirty="0">
                <a:latin typeface="Times New Roman" pitchFamily="18" charset="0"/>
                <a:cs typeface="Times New Roman" pitchFamily="18" charset="0"/>
              </a:rPr>
              <a:t>Implementation of the Proposed Work </a:t>
            </a:r>
          </a:p>
          <a:p>
            <a:pPr algn="r"/>
            <a:endParaRPr lang="en-US" sz="2400" dirty="0">
              <a:latin typeface="Times New Roman" pitchFamily="18" charset="0"/>
              <a:cs typeface="Times New Roman" pitchFamily="18" charset="0"/>
            </a:endParaRP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14</a:t>
            </a:fld>
            <a:endParaRPr lang="en-US"/>
          </a:p>
        </p:txBody>
      </p:sp>
      <p:sp>
        <p:nvSpPr>
          <p:cNvPr id="18" name="Rectangle 17">
            <a:extLst>
              <a:ext uri="{FF2B5EF4-FFF2-40B4-BE49-F238E27FC236}">
                <a16:creationId xmlns:a16="http://schemas.microsoft.com/office/drawing/2014/main" id="{72F160A7-6BAC-3D1F-5FBE-DB6EB1580673}"/>
              </a:ext>
            </a:extLst>
          </p:cNvPr>
          <p:cNvSpPr/>
          <p:nvPr/>
        </p:nvSpPr>
        <p:spPr>
          <a:xfrm flipV="1">
            <a:off x="1981200" y="2740543"/>
            <a:ext cx="762000"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AutoShape 6">
            <a:extLst>
              <a:ext uri="{FF2B5EF4-FFF2-40B4-BE49-F238E27FC236}">
                <a16:creationId xmlns:a16="http://schemas.microsoft.com/office/drawing/2014/main" id="{BFC226C2-654A-9C1F-03E4-E70941CA553F}"/>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E09F3472-BD98-93A0-DF65-5F9463FCD1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1358352"/>
            <a:ext cx="6477000" cy="3836496"/>
          </a:xfrm>
          <a:prstGeom prst="rect">
            <a:avLst/>
          </a:prstGeom>
        </p:spPr>
      </p:pic>
    </p:spTree>
    <p:extLst>
      <p:ext uri="{BB962C8B-B14F-4D97-AF65-F5344CB8AC3E}">
        <p14:creationId xmlns:p14="http://schemas.microsoft.com/office/powerpoint/2010/main" val="3947803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8C333-35E9-4A1B-4AF2-8480A7736B4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D9EC8D5-E6CA-FC85-1E70-DAF4CCF45AC4}"/>
              </a:ext>
            </a:extLst>
          </p:cNvPr>
          <p:cNvSpPr/>
          <p:nvPr/>
        </p:nvSpPr>
        <p:spPr>
          <a:xfrm>
            <a:off x="4029745" y="152400"/>
            <a:ext cx="4961936" cy="830997"/>
          </a:xfrm>
          <a:prstGeom prst="rect">
            <a:avLst/>
          </a:prstGeom>
        </p:spPr>
        <p:txBody>
          <a:bodyPr wrap="none">
            <a:spAutoFit/>
          </a:bodyPr>
          <a:lstStyle/>
          <a:p>
            <a:pPr algn="r"/>
            <a:r>
              <a:rPr lang="en-US" sz="2400" dirty="0">
                <a:latin typeface="Times New Roman" pitchFamily="18" charset="0"/>
                <a:cs typeface="Times New Roman" pitchFamily="18" charset="0"/>
              </a:rPr>
              <a:t>Implementation of the Proposed Work </a:t>
            </a:r>
          </a:p>
          <a:p>
            <a:pPr algn="r"/>
            <a:endParaRPr lang="en-US" sz="2400" dirty="0">
              <a:latin typeface="Times New Roman" pitchFamily="18" charset="0"/>
              <a:cs typeface="Times New Roman" pitchFamily="18" charset="0"/>
            </a:endParaRPr>
          </a:p>
        </p:txBody>
      </p:sp>
      <p:sp>
        <p:nvSpPr>
          <p:cNvPr id="8" name="Rectangle 7">
            <a:extLst>
              <a:ext uri="{FF2B5EF4-FFF2-40B4-BE49-F238E27FC236}">
                <a16:creationId xmlns:a16="http://schemas.microsoft.com/office/drawing/2014/main" id="{0B1428C7-FB26-4549-15DE-0C32A27A9F62}"/>
              </a:ext>
            </a:extLst>
          </p:cNvPr>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a:extLst>
              <a:ext uri="{FF2B5EF4-FFF2-40B4-BE49-F238E27FC236}">
                <a16:creationId xmlns:a16="http://schemas.microsoft.com/office/drawing/2014/main" id="{D5020302-1B5F-9E9D-FA06-26A42FA1CBEF}"/>
              </a:ext>
            </a:extLst>
          </p:cNvPr>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a:extLst>
              <a:ext uri="{FF2B5EF4-FFF2-40B4-BE49-F238E27FC236}">
                <a16:creationId xmlns:a16="http://schemas.microsoft.com/office/drawing/2014/main" id="{47BFE8B2-0E5C-F714-36F4-D79209596A76}"/>
              </a:ext>
            </a:extLst>
          </p:cNvPr>
          <p:cNvSpPr>
            <a:spLocks noGrp="1"/>
          </p:cNvSpPr>
          <p:nvPr>
            <p:ph type="sldNum" sz="quarter" idx="12"/>
          </p:nvPr>
        </p:nvSpPr>
        <p:spPr/>
        <p:txBody>
          <a:bodyPr/>
          <a:lstStyle/>
          <a:p>
            <a:fld id="{B6F15528-21DE-4FAA-801E-634DDDAF4B2B}" type="slidenum">
              <a:rPr lang="en-US" smtClean="0"/>
              <a:pPr/>
              <a:t>15</a:t>
            </a:fld>
            <a:endParaRPr lang="en-US"/>
          </a:p>
        </p:txBody>
      </p:sp>
      <p:pic>
        <p:nvPicPr>
          <p:cNvPr id="4" name="Picture 3">
            <a:extLst>
              <a:ext uri="{FF2B5EF4-FFF2-40B4-BE49-F238E27FC236}">
                <a16:creationId xmlns:a16="http://schemas.microsoft.com/office/drawing/2014/main" id="{B535C73C-44A7-3615-BC7E-3F1FE6AA1B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386" y="1332280"/>
            <a:ext cx="7393228" cy="4193439"/>
          </a:xfrm>
          <a:prstGeom prst="rect">
            <a:avLst/>
          </a:prstGeom>
        </p:spPr>
      </p:pic>
    </p:spTree>
    <p:extLst>
      <p:ext uri="{BB962C8B-B14F-4D97-AF65-F5344CB8AC3E}">
        <p14:creationId xmlns:p14="http://schemas.microsoft.com/office/powerpoint/2010/main" val="1802404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D8C73-39FE-C595-1903-889CEFC42ED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1E63B0D-90D1-6676-9B56-364C5414147F}"/>
              </a:ext>
            </a:extLst>
          </p:cNvPr>
          <p:cNvSpPr/>
          <p:nvPr/>
        </p:nvSpPr>
        <p:spPr>
          <a:xfrm>
            <a:off x="4029745" y="152400"/>
            <a:ext cx="4961936" cy="830997"/>
          </a:xfrm>
          <a:prstGeom prst="rect">
            <a:avLst/>
          </a:prstGeom>
        </p:spPr>
        <p:txBody>
          <a:bodyPr wrap="none">
            <a:spAutoFit/>
          </a:bodyPr>
          <a:lstStyle/>
          <a:p>
            <a:pPr algn="r"/>
            <a:r>
              <a:rPr lang="en-US" sz="2400" dirty="0">
                <a:latin typeface="Times New Roman" pitchFamily="18" charset="0"/>
                <a:cs typeface="Times New Roman" pitchFamily="18" charset="0"/>
              </a:rPr>
              <a:t>Implementation of the Proposed Work </a:t>
            </a:r>
          </a:p>
          <a:p>
            <a:pPr algn="r"/>
            <a:endParaRPr lang="en-US" sz="2400" dirty="0">
              <a:latin typeface="Times New Roman" pitchFamily="18" charset="0"/>
              <a:cs typeface="Times New Roman" pitchFamily="18" charset="0"/>
            </a:endParaRPr>
          </a:p>
        </p:txBody>
      </p:sp>
      <p:sp>
        <p:nvSpPr>
          <p:cNvPr id="8" name="Rectangle 7">
            <a:extLst>
              <a:ext uri="{FF2B5EF4-FFF2-40B4-BE49-F238E27FC236}">
                <a16:creationId xmlns:a16="http://schemas.microsoft.com/office/drawing/2014/main" id="{C058E328-FCC9-AE03-EF7A-C13FFBD66085}"/>
              </a:ext>
            </a:extLst>
          </p:cNvPr>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a:extLst>
              <a:ext uri="{FF2B5EF4-FFF2-40B4-BE49-F238E27FC236}">
                <a16:creationId xmlns:a16="http://schemas.microsoft.com/office/drawing/2014/main" id="{535320DD-C8A9-679C-95D6-E238FCA8E85B}"/>
              </a:ext>
            </a:extLst>
          </p:cNvPr>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a:extLst>
              <a:ext uri="{FF2B5EF4-FFF2-40B4-BE49-F238E27FC236}">
                <a16:creationId xmlns:a16="http://schemas.microsoft.com/office/drawing/2014/main" id="{ECD4F992-0763-FBC0-956D-28BD52581FF0}"/>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18" name="Rectangle 17">
            <a:extLst>
              <a:ext uri="{FF2B5EF4-FFF2-40B4-BE49-F238E27FC236}">
                <a16:creationId xmlns:a16="http://schemas.microsoft.com/office/drawing/2014/main" id="{7DA76489-3024-8F94-3D2D-9ECAB68F0D2A}"/>
              </a:ext>
            </a:extLst>
          </p:cNvPr>
          <p:cNvSpPr/>
          <p:nvPr/>
        </p:nvSpPr>
        <p:spPr>
          <a:xfrm flipV="1">
            <a:off x="1981200" y="2740543"/>
            <a:ext cx="762000"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 name="Picture 2">
            <a:extLst>
              <a:ext uri="{FF2B5EF4-FFF2-40B4-BE49-F238E27FC236}">
                <a16:creationId xmlns:a16="http://schemas.microsoft.com/office/drawing/2014/main" id="{B32AB852-0983-2667-E5F4-24603380C7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6094" y="914400"/>
            <a:ext cx="4800600" cy="2289458"/>
          </a:xfrm>
          <a:prstGeom prst="rect">
            <a:avLst/>
          </a:prstGeom>
        </p:spPr>
      </p:pic>
      <p:pic>
        <p:nvPicPr>
          <p:cNvPr id="10" name="Picture 9">
            <a:extLst>
              <a:ext uri="{FF2B5EF4-FFF2-40B4-BE49-F238E27FC236}">
                <a16:creationId xmlns:a16="http://schemas.microsoft.com/office/drawing/2014/main" id="{D54E40C2-49FA-7205-7D9F-917D35CBE0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4500" y="3293527"/>
            <a:ext cx="5715000" cy="3245385"/>
          </a:xfrm>
          <a:prstGeom prst="rect">
            <a:avLst/>
          </a:prstGeom>
        </p:spPr>
      </p:pic>
    </p:spTree>
    <p:extLst>
      <p:ext uri="{BB962C8B-B14F-4D97-AF65-F5344CB8AC3E}">
        <p14:creationId xmlns:p14="http://schemas.microsoft.com/office/powerpoint/2010/main" val="2803538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75C5E-4F8A-3037-C1A3-AF469060988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C60DB91-4B59-C067-F34E-F84FE5BAE9B9}"/>
              </a:ext>
            </a:extLst>
          </p:cNvPr>
          <p:cNvSpPr/>
          <p:nvPr/>
        </p:nvSpPr>
        <p:spPr>
          <a:xfrm>
            <a:off x="4029745" y="152400"/>
            <a:ext cx="4961936" cy="830997"/>
          </a:xfrm>
          <a:prstGeom prst="rect">
            <a:avLst/>
          </a:prstGeom>
        </p:spPr>
        <p:txBody>
          <a:bodyPr wrap="none">
            <a:spAutoFit/>
          </a:bodyPr>
          <a:lstStyle/>
          <a:p>
            <a:pPr algn="r"/>
            <a:r>
              <a:rPr lang="en-US" sz="2400" dirty="0">
                <a:latin typeface="Times New Roman" pitchFamily="18" charset="0"/>
                <a:cs typeface="Times New Roman" pitchFamily="18" charset="0"/>
              </a:rPr>
              <a:t>Implementation of the Proposed Work </a:t>
            </a:r>
          </a:p>
          <a:p>
            <a:pPr algn="r"/>
            <a:endParaRPr lang="en-US" sz="2400" dirty="0">
              <a:latin typeface="Times New Roman" pitchFamily="18" charset="0"/>
              <a:cs typeface="Times New Roman" pitchFamily="18" charset="0"/>
            </a:endParaRPr>
          </a:p>
        </p:txBody>
      </p:sp>
      <p:sp>
        <p:nvSpPr>
          <p:cNvPr id="8" name="Rectangle 7">
            <a:extLst>
              <a:ext uri="{FF2B5EF4-FFF2-40B4-BE49-F238E27FC236}">
                <a16:creationId xmlns:a16="http://schemas.microsoft.com/office/drawing/2014/main" id="{22E9C113-B5D3-2F6B-F35A-DFF6821B1AF1}"/>
              </a:ext>
            </a:extLst>
          </p:cNvPr>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a:extLst>
              <a:ext uri="{FF2B5EF4-FFF2-40B4-BE49-F238E27FC236}">
                <a16:creationId xmlns:a16="http://schemas.microsoft.com/office/drawing/2014/main" id="{BC6472AC-7DD3-64E3-0D3A-8D19F9925B81}"/>
              </a:ext>
            </a:extLst>
          </p:cNvPr>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a:extLst>
              <a:ext uri="{FF2B5EF4-FFF2-40B4-BE49-F238E27FC236}">
                <a16:creationId xmlns:a16="http://schemas.microsoft.com/office/drawing/2014/main" id="{7C828235-F741-FB96-CDB4-E773A8DB50B8}"/>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18" name="Rectangle 17">
            <a:extLst>
              <a:ext uri="{FF2B5EF4-FFF2-40B4-BE49-F238E27FC236}">
                <a16:creationId xmlns:a16="http://schemas.microsoft.com/office/drawing/2014/main" id="{9CC8B004-F0AB-5C02-664F-9C02E745C084}"/>
              </a:ext>
            </a:extLst>
          </p:cNvPr>
          <p:cNvSpPr/>
          <p:nvPr/>
        </p:nvSpPr>
        <p:spPr>
          <a:xfrm flipV="1">
            <a:off x="1981200" y="2740543"/>
            <a:ext cx="762000"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Picture 3">
            <a:extLst>
              <a:ext uri="{FF2B5EF4-FFF2-40B4-BE49-F238E27FC236}">
                <a16:creationId xmlns:a16="http://schemas.microsoft.com/office/drawing/2014/main" id="{046E5F1F-54D0-F8BB-DCEB-0F89BB5767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2978" y="685800"/>
            <a:ext cx="5778044" cy="2190400"/>
          </a:xfrm>
          <a:prstGeom prst="rect">
            <a:avLst/>
          </a:prstGeom>
        </p:spPr>
      </p:pic>
      <p:pic>
        <p:nvPicPr>
          <p:cNvPr id="11" name="Picture 10">
            <a:extLst>
              <a:ext uri="{FF2B5EF4-FFF2-40B4-BE49-F238E27FC236}">
                <a16:creationId xmlns:a16="http://schemas.microsoft.com/office/drawing/2014/main" id="{68A6B12F-CDAE-64EA-918B-78A678A337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0" y="3070101"/>
            <a:ext cx="5638800" cy="3286249"/>
          </a:xfrm>
          <a:prstGeom prst="rect">
            <a:avLst/>
          </a:prstGeom>
        </p:spPr>
      </p:pic>
    </p:spTree>
    <p:extLst>
      <p:ext uri="{BB962C8B-B14F-4D97-AF65-F5344CB8AC3E}">
        <p14:creationId xmlns:p14="http://schemas.microsoft.com/office/powerpoint/2010/main" val="659714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AB1F7A-E454-9A91-FE5C-09C7C6ABB93B}"/>
              </a:ext>
            </a:extLst>
          </p:cNvPr>
          <p:cNvSpPr>
            <a:spLocks noGrp="1"/>
          </p:cNvSpPr>
          <p:nvPr>
            <p:ph type="sldNum" sz="quarter" idx="12"/>
          </p:nvPr>
        </p:nvSpPr>
        <p:spPr/>
        <p:txBody>
          <a:bodyPr/>
          <a:lstStyle/>
          <a:p>
            <a:fld id="{B6F15528-21DE-4FAA-801E-634DDDAF4B2B}" type="slidenum">
              <a:rPr lang="en-US" smtClean="0"/>
              <a:pPr/>
              <a:t>18</a:t>
            </a:fld>
            <a:endParaRPr lang="en-US"/>
          </a:p>
        </p:txBody>
      </p:sp>
      <p:pic>
        <p:nvPicPr>
          <p:cNvPr id="3" name="Picture 2" descr="SVECW_LOGO.PNG">
            <a:extLst>
              <a:ext uri="{FF2B5EF4-FFF2-40B4-BE49-F238E27FC236}">
                <a16:creationId xmlns:a16="http://schemas.microsoft.com/office/drawing/2014/main" id="{BA375753-E63C-0528-0754-54E8FEB30BD1}"/>
              </a:ext>
            </a:extLst>
          </p:cNvPr>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4" name="Rectangle 3">
            <a:extLst>
              <a:ext uri="{FF2B5EF4-FFF2-40B4-BE49-F238E27FC236}">
                <a16:creationId xmlns:a16="http://schemas.microsoft.com/office/drawing/2014/main" id="{6B103493-8CEE-FA63-8D84-5CD25F9BDFE6}"/>
              </a:ext>
            </a:extLst>
          </p:cNvPr>
          <p:cNvSpPr/>
          <p:nvPr/>
        </p:nvSpPr>
        <p:spPr>
          <a:xfrm>
            <a:off x="4029745" y="152400"/>
            <a:ext cx="4961936" cy="830997"/>
          </a:xfrm>
          <a:prstGeom prst="rect">
            <a:avLst/>
          </a:prstGeom>
        </p:spPr>
        <p:txBody>
          <a:bodyPr wrap="none">
            <a:spAutoFit/>
          </a:bodyPr>
          <a:lstStyle/>
          <a:p>
            <a:pPr algn="r"/>
            <a:r>
              <a:rPr lang="en-US" sz="2400" dirty="0">
                <a:latin typeface="Times New Roman" pitchFamily="18" charset="0"/>
                <a:cs typeface="Times New Roman" pitchFamily="18" charset="0"/>
              </a:rPr>
              <a:t>Implementation of the Proposed Work </a:t>
            </a:r>
          </a:p>
          <a:p>
            <a:pPr algn="r"/>
            <a:endParaRPr lang="en-US" sz="2400" dirty="0">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70A0A5EF-A220-C9F8-BFBA-30B4446F3B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00" y="1295400"/>
            <a:ext cx="7696200" cy="4490988"/>
          </a:xfrm>
          <a:prstGeom prst="rect">
            <a:avLst/>
          </a:prstGeom>
        </p:spPr>
      </p:pic>
    </p:spTree>
    <p:extLst>
      <p:ext uri="{BB962C8B-B14F-4D97-AF65-F5344CB8AC3E}">
        <p14:creationId xmlns:p14="http://schemas.microsoft.com/office/powerpoint/2010/main" val="2837731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089652" y="152400"/>
            <a:ext cx="3902030" cy="461665"/>
          </a:xfrm>
          <a:prstGeom prst="rect">
            <a:avLst/>
          </a:prstGeom>
        </p:spPr>
        <p:txBody>
          <a:bodyPr wrap="none">
            <a:spAutoFit/>
          </a:bodyPr>
          <a:lstStyle/>
          <a:p>
            <a:pPr algn="r"/>
            <a:r>
              <a:rPr lang="en-IN" sz="2400" dirty="0">
                <a:latin typeface="Times New Roman" panose="02020603050405020304" pitchFamily="18" charset="0"/>
                <a:cs typeface="Times New Roman" panose="02020603050405020304" pitchFamily="18" charset="0"/>
              </a:rPr>
              <a:t>Existing vs Proposed Solution</a:t>
            </a:r>
            <a:endParaRPr lang="en-US" sz="2400" dirty="0">
              <a:latin typeface="Times New Roman" panose="02020603050405020304" pitchFamily="18" charset="0"/>
              <a:cs typeface="Times New Roman" pitchFamily="18" charset="0"/>
            </a:endParaRP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19</a:t>
            </a:fld>
            <a:endParaRPr lang="en-US"/>
          </a:p>
        </p:txBody>
      </p:sp>
      <p:graphicFrame>
        <p:nvGraphicFramePr>
          <p:cNvPr id="3" name="Table 2">
            <a:extLst>
              <a:ext uri="{FF2B5EF4-FFF2-40B4-BE49-F238E27FC236}">
                <a16:creationId xmlns:a16="http://schemas.microsoft.com/office/drawing/2014/main" id="{984999C0-E052-7328-006D-F97D7CB937CC}"/>
              </a:ext>
            </a:extLst>
          </p:cNvPr>
          <p:cNvGraphicFramePr>
            <a:graphicFrameLocks noGrp="1"/>
          </p:cNvGraphicFramePr>
          <p:nvPr>
            <p:extLst>
              <p:ext uri="{D42A27DB-BD31-4B8C-83A1-F6EECF244321}">
                <p14:modId xmlns:p14="http://schemas.microsoft.com/office/powerpoint/2010/main" val="1219302744"/>
              </p:ext>
            </p:extLst>
          </p:nvPr>
        </p:nvGraphicFramePr>
        <p:xfrm>
          <a:off x="762000" y="1639741"/>
          <a:ext cx="7772400" cy="3710597"/>
        </p:xfrm>
        <a:graphic>
          <a:graphicData uri="http://schemas.openxmlformats.org/drawingml/2006/table">
            <a:tbl>
              <a:tblPr firstRow="1" bandRow="1">
                <a:tableStyleId>{E8B1032C-EA38-4F05-BA0D-38AFFFC7BED3}</a:tableStyleId>
              </a:tblPr>
              <a:tblGrid>
                <a:gridCol w="3886200">
                  <a:extLst>
                    <a:ext uri="{9D8B030D-6E8A-4147-A177-3AD203B41FA5}">
                      <a16:colId xmlns:a16="http://schemas.microsoft.com/office/drawing/2014/main" val="1205055212"/>
                    </a:ext>
                  </a:extLst>
                </a:gridCol>
                <a:gridCol w="3886200">
                  <a:extLst>
                    <a:ext uri="{9D8B030D-6E8A-4147-A177-3AD203B41FA5}">
                      <a16:colId xmlns:a16="http://schemas.microsoft.com/office/drawing/2014/main" val="2073121340"/>
                    </a:ext>
                  </a:extLst>
                </a:gridCol>
              </a:tblGrid>
              <a:tr h="858192">
                <a:tc>
                  <a:txBody>
                    <a:bodyPr/>
                    <a:lstStyle/>
                    <a:p>
                      <a:pPr>
                        <a:buNone/>
                      </a:pPr>
                      <a:r>
                        <a:rPr lang="en-IN" b="1" dirty="0"/>
                        <a:t>Existing ZTNA</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t>Proposed Blockchain-Based ZTNA</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62089288"/>
                  </a:ext>
                </a:extLst>
              </a:tr>
              <a:tr h="736438">
                <a:tc>
                  <a:txBody>
                    <a:bodyPr/>
                    <a:lstStyle/>
                    <a:p>
                      <a:pPr>
                        <a:buNone/>
                      </a:pPr>
                      <a:r>
                        <a:rPr lang="en-US" dirty="0"/>
                        <a:t>Centralized identity and policy control</a:t>
                      </a:r>
                      <a:endParaRPr lang="en-US" dirty="0">
                        <a:latin typeface="Times New Roman" panose="02020603050405020304" pitchFamily="18" charset="0"/>
                        <a:cs typeface="Times New Roman" panose="02020603050405020304" pitchFamily="18" charset="0"/>
                      </a:endParaRPr>
                    </a:p>
                  </a:txBody>
                  <a:tcPr anchor="ctr"/>
                </a:tc>
                <a:tc>
                  <a:txBody>
                    <a:bodyPr/>
                    <a:lstStyle/>
                    <a:p>
                      <a:pPr>
                        <a:buNone/>
                      </a:pPr>
                      <a:r>
                        <a:rPr lang="en-IN" dirty="0"/>
                        <a:t>Distributed validation mechanism</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22419881"/>
                  </a:ext>
                </a:extLst>
              </a:tr>
              <a:tr h="643091">
                <a:tc>
                  <a:txBody>
                    <a:bodyPr/>
                    <a:lstStyle/>
                    <a:p>
                      <a:pPr>
                        <a:buNone/>
                      </a:pPr>
                      <a:r>
                        <a:rPr lang="en-US" dirty="0"/>
                        <a:t>Prone to single point of failure</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t>No dependency on single authority</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5620846"/>
                  </a:ext>
                </a:extLst>
              </a:tr>
              <a:tr h="736438">
                <a:tc>
                  <a:txBody>
                    <a:bodyPr/>
                    <a:lstStyle/>
                    <a:p>
                      <a:r>
                        <a:rPr lang="en-IN" dirty="0"/>
                        <a:t>Limited transparency in decisions</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dirty="0"/>
                        <a:t>Verifiable and tamper-resistant access control</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65618456"/>
                  </a:ext>
                </a:extLst>
              </a:tr>
              <a:tr h="736438">
                <a:tc>
                  <a:txBody>
                    <a:bodyPr/>
                    <a:lstStyle/>
                    <a:p>
                      <a:r>
                        <a:rPr lang="en-IN" dirty="0"/>
                        <a:t>Suitable for traditional enterprise setups</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dirty="0"/>
                        <a:t>Designed for distributed and cloud environments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1204254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441249" y="152400"/>
            <a:ext cx="1550424" cy="461665"/>
          </a:xfrm>
          <a:prstGeom prst="rect">
            <a:avLst/>
          </a:prstGeom>
        </p:spPr>
        <p:txBody>
          <a:bodyPr wrap="none">
            <a:spAutoFit/>
          </a:bodyPr>
          <a:lstStyle/>
          <a:p>
            <a:pPr algn="r"/>
            <a:r>
              <a:rPr lang="en-US" sz="2400" dirty="0">
                <a:latin typeface="Times New Roman" pitchFamily="18" charset="0"/>
                <a:cs typeface="Times New Roman" pitchFamily="18" charset="0"/>
              </a:rPr>
              <a:t>References</a:t>
            </a:r>
          </a:p>
        </p:txBody>
      </p:sp>
      <p:sp>
        <p:nvSpPr>
          <p:cNvPr id="8" name="Rectangle 7"/>
          <p:cNvSpPr/>
          <p:nvPr/>
        </p:nvSpPr>
        <p:spPr>
          <a:xfrm>
            <a:off x="762000" y="2286001"/>
            <a:ext cx="3200400" cy="369332"/>
          </a:xfrm>
          <a:prstGeom prst="rect">
            <a:avLst/>
          </a:prstGeom>
        </p:spPr>
        <p:txBody>
          <a:bodyPr wrap="square">
            <a:spAutoFit/>
          </a:bodyPr>
          <a:lstStyle/>
          <a:p>
            <a:endParaRPr lang="en-US" dirty="0"/>
          </a:p>
        </p:txBody>
      </p:sp>
      <p:pic>
        <p:nvPicPr>
          <p:cNvPr id="6" name="Picture 5" descr="SVECW_LOGO.PNG"/>
          <p:cNvPicPr>
            <a:picLocks noChangeAspect="1"/>
          </p:cNvPicPr>
          <p:nvPr/>
        </p:nvPicPr>
        <p:blipFill>
          <a:blip r:embed="rId2" cstate="print"/>
          <a:srcRect r="73269"/>
          <a:stretch>
            <a:fillRect/>
          </a:stretch>
        </p:blipFill>
        <p:spPr>
          <a:xfrm>
            <a:off x="76200" y="56998"/>
            <a:ext cx="990600" cy="1086002"/>
          </a:xfrm>
          <a:prstGeom prst="rect">
            <a:avLst/>
          </a:prstGeom>
        </p:spPr>
      </p:pic>
      <p:sp>
        <p:nvSpPr>
          <p:cNvPr id="9" name="Slide Number Placeholder 8"/>
          <p:cNvSpPr>
            <a:spLocks noGrp="1"/>
          </p:cNvSpPr>
          <p:nvPr>
            <p:ph type="sldNum" sz="quarter" idx="12"/>
          </p:nvPr>
        </p:nvSpPr>
        <p:spPr/>
        <p:txBody>
          <a:bodyPr/>
          <a:lstStyle/>
          <a:p>
            <a:fld id="{B6F15528-21DE-4FAA-801E-634DDDAF4B2B}" type="slidenum">
              <a:rPr lang="en-US" smtClean="0"/>
              <a:pPr/>
              <a:t>20</a:t>
            </a:fld>
            <a:endParaRPr lang="en-US"/>
          </a:p>
        </p:txBody>
      </p:sp>
      <p:sp>
        <p:nvSpPr>
          <p:cNvPr id="2" name="Rectangle 1"/>
          <p:cNvSpPr/>
          <p:nvPr/>
        </p:nvSpPr>
        <p:spPr>
          <a:xfrm>
            <a:off x="489155" y="1308814"/>
            <a:ext cx="7924800" cy="5047536"/>
          </a:xfrm>
          <a:prstGeom prst="rect">
            <a:avLst/>
          </a:prstGeom>
        </p:spPr>
        <p:txBody>
          <a:bodyPr wrap="square">
            <a:spAutoFit/>
          </a:bodyPr>
          <a:lstStyle/>
          <a:p>
            <a:pPr marL="285750" indent="-285750" algn="just">
              <a:buFont typeface="Arial" pitchFamily="34" charset="0"/>
              <a:buChar char="•"/>
            </a:pPr>
            <a:r>
              <a:rPr lang="en-IN" sz="1400" dirty="0">
                <a:latin typeface="Times New Roman" pitchFamily="18" charset="0"/>
                <a:cs typeface="Times New Roman" pitchFamily="18" charset="0"/>
              </a:rPr>
              <a:t>National Institute of Standards and Technology. (2020). </a:t>
            </a:r>
            <a:r>
              <a:rPr lang="en-IN" sz="1400" i="1" dirty="0">
                <a:latin typeface="Times New Roman" pitchFamily="18" charset="0"/>
                <a:cs typeface="Times New Roman" pitchFamily="18" charset="0"/>
              </a:rPr>
              <a:t>Zero trust architecture (NIST SP 800-207)</a:t>
            </a:r>
            <a:r>
              <a:rPr lang="en-IN" sz="1400" dirty="0">
                <a:latin typeface="Times New Roman" pitchFamily="18" charset="0"/>
                <a:cs typeface="Times New Roman" pitchFamily="18" charset="0"/>
              </a:rPr>
              <a:t>. U.S. Department of Commerce. </a:t>
            </a:r>
            <a:r>
              <a:rPr lang="en-IN" sz="1400" dirty="0">
                <a:latin typeface="Times New Roman" pitchFamily="18" charset="0"/>
                <a:cs typeface="Times New Roman" pitchFamily="18" charset="0"/>
                <a:hlinkClick r:id="rId3"/>
              </a:rPr>
              <a:t>https://doi.org/10.6028/NIST.SP.800-207</a:t>
            </a:r>
            <a:endParaRPr lang="en-IN" sz="1400" dirty="0">
              <a:latin typeface="Times New Roman" pitchFamily="18" charset="0"/>
              <a:cs typeface="Times New Roman" pitchFamily="18" charset="0"/>
            </a:endParaRPr>
          </a:p>
          <a:p>
            <a:pPr marL="285750" indent="-285750" algn="just">
              <a:buFont typeface="Arial" pitchFamily="34" charset="0"/>
              <a:buChar char="•"/>
            </a:pPr>
            <a:r>
              <a:rPr lang="en-IN" sz="1400" dirty="0">
                <a:latin typeface="Times New Roman" pitchFamily="18" charset="0"/>
                <a:cs typeface="Times New Roman" pitchFamily="18" charset="0"/>
              </a:rPr>
              <a:t>Rose, S., </a:t>
            </a:r>
            <a:r>
              <a:rPr lang="en-IN" sz="1400" dirty="0" err="1">
                <a:latin typeface="Times New Roman" pitchFamily="18" charset="0"/>
                <a:cs typeface="Times New Roman" pitchFamily="18" charset="0"/>
              </a:rPr>
              <a:t>Borchert</a:t>
            </a:r>
            <a:r>
              <a:rPr lang="en-IN" sz="1400" dirty="0">
                <a:latin typeface="Times New Roman" pitchFamily="18" charset="0"/>
                <a:cs typeface="Times New Roman" pitchFamily="18" charset="0"/>
              </a:rPr>
              <a:t>, O., Mitchell, S., &amp; Connelly, S. (2022). </a:t>
            </a:r>
            <a:r>
              <a:rPr lang="en-IN" sz="1400" i="1" dirty="0">
                <a:latin typeface="Times New Roman" pitchFamily="18" charset="0"/>
                <a:cs typeface="Times New Roman" pitchFamily="18" charset="0"/>
              </a:rPr>
              <a:t>Zero trust principles for enterprise security</a:t>
            </a:r>
            <a:r>
              <a:rPr lang="en-IN" sz="1400" dirty="0">
                <a:latin typeface="Times New Roman" pitchFamily="18" charset="0"/>
                <a:cs typeface="Times New Roman" pitchFamily="18" charset="0"/>
              </a:rPr>
              <a:t>. </a:t>
            </a:r>
            <a:r>
              <a:rPr lang="en-IN" sz="1400" i="1" dirty="0">
                <a:latin typeface="Times New Roman" pitchFamily="18" charset="0"/>
                <a:cs typeface="Times New Roman" pitchFamily="18" charset="0"/>
              </a:rPr>
              <a:t>Journal of Cybersecurity and Digital Trust</a:t>
            </a:r>
            <a:r>
              <a:rPr lang="en-IN" sz="1400" dirty="0">
                <a:latin typeface="Times New Roman" pitchFamily="18" charset="0"/>
                <a:cs typeface="Times New Roman" pitchFamily="18" charset="0"/>
              </a:rPr>
              <a:t>, 6(2), 45–59.</a:t>
            </a:r>
          </a:p>
          <a:p>
            <a:pPr marL="285750" indent="-285750" algn="just">
              <a:buFont typeface="Arial" pitchFamily="34" charset="0"/>
              <a:buChar char="•"/>
            </a:pPr>
            <a:r>
              <a:rPr lang="en-IN" sz="1400" dirty="0" err="1">
                <a:latin typeface="Times New Roman" pitchFamily="18" charset="0"/>
                <a:cs typeface="Times New Roman" pitchFamily="18" charset="0"/>
              </a:rPr>
              <a:t>Kindervag</a:t>
            </a:r>
            <a:r>
              <a:rPr lang="en-IN" sz="1400" dirty="0">
                <a:latin typeface="Times New Roman" pitchFamily="18" charset="0"/>
                <a:cs typeface="Times New Roman" pitchFamily="18" charset="0"/>
              </a:rPr>
              <a:t>, J. (2021). </a:t>
            </a:r>
            <a:r>
              <a:rPr lang="en-IN" sz="1400" i="1" dirty="0">
                <a:latin typeface="Times New Roman" pitchFamily="18" charset="0"/>
                <a:cs typeface="Times New Roman" pitchFamily="18" charset="0"/>
              </a:rPr>
              <a:t>The evolution of zero trust security frameworks</a:t>
            </a:r>
            <a:r>
              <a:rPr lang="en-IN" sz="1400" dirty="0">
                <a:latin typeface="Times New Roman" pitchFamily="18" charset="0"/>
                <a:cs typeface="Times New Roman" pitchFamily="18" charset="0"/>
              </a:rPr>
              <a:t>. </a:t>
            </a:r>
            <a:r>
              <a:rPr lang="en-IN" sz="1400" i="1" dirty="0">
                <a:latin typeface="Times New Roman" pitchFamily="18" charset="0"/>
                <a:cs typeface="Times New Roman" pitchFamily="18" charset="0"/>
              </a:rPr>
              <a:t>Cyber </a:t>
            </a:r>
            <a:r>
              <a:rPr lang="en-IN" sz="1400" i="1" dirty="0" err="1">
                <a:latin typeface="Times New Roman" pitchFamily="18" charset="0"/>
                <a:cs typeface="Times New Roman" pitchFamily="18" charset="0"/>
              </a:rPr>
              <a:t>Defense</a:t>
            </a:r>
            <a:r>
              <a:rPr lang="en-IN" sz="1400" i="1" dirty="0">
                <a:latin typeface="Times New Roman" pitchFamily="18" charset="0"/>
                <a:cs typeface="Times New Roman" pitchFamily="18" charset="0"/>
              </a:rPr>
              <a:t> Review</a:t>
            </a:r>
            <a:r>
              <a:rPr lang="en-IN" sz="1400" dirty="0">
                <a:latin typeface="Times New Roman" pitchFamily="18" charset="0"/>
                <a:cs typeface="Times New Roman" pitchFamily="18" charset="0"/>
              </a:rPr>
              <a:t>, 9(1), 33–47.</a:t>
            </a:r>
          </a:p>
          <a:p>
            <a:pPr marL="285750" indent="-285750" algn="just">
              <a:buFont typeface="Arial" pitchFamily="34" charset="0"/>
              <a:buChar char="•"/>
            </a:pPr>
            <a:r>
              <a:rPr lang="en-IN" sz="1400" dirty="0" err="1">
                <a:latin typeface="Times New Roman" pitchFamily="18" charset="0"/>
                <a:cs typeface="Times New Roman" pitchFamily="18" charset="0"/>
              </a:rPr>
              <a:t>Buterin</a:t>
            </a:r>
            <a:r>
              <a:rPr lang="en-IN" sz="1400" dirty="0">
                <a:latin typeface="Times New Roman" pitchFamily="18" charset="0"/>
                <a:cs typeface="Times New Roman" pitchFamily="18" charset="0"/>
              </a:rPr>
              <a:t>, V. (2014). </a:t>
            </a:r>
            <a:r>
              <a:rPr lang="en-IN" sz="1400" i="1" dirty="0" err="1">
                <a:latin typeface="Times New Roman" pitchFamily="18" charset="0"/>
                <a:cs typeface="Times New Roman" pitchFamily="18" charset="0"/>
              </a:rPr>
              <a:t>Ethereum</a:t>
            </a:r>
            <a:r>
              <a:rPr lang="en-IN" sz="1400" i="1" dirty="0">
                <a:latin typeface="Times New Roman" pitchFamily="18" charset="0"/>
                <a:cs typeface="Times New Roman" pitchFamily="18" charset="0"/>
              </a:rPr>
              <a:t>: A next-generation smart contract and decentralized application platform</a:t>
            </a:r>
            <a:r>
              <a:rPr lang="en-IN" sz="1400" dirty="0">
                <a:latin typeface="Times New Roman" pitchFamily="18" charset="0"/>
                <a:cs typeface="Times New Roman" pitchFamily="18" charset="0"/>
              </a:rPr>
              <a:t>. </a:t>
            </a:r>
            <a:r>
              <a:rPr lang="en-IN" sz="1400" dirty="0" err="1">
                <a:latin typeface="Times New Roman" pitchFamily="18" charset="0"/>
                <a:cs typeface="Times New Roman" pitchFamily="18" charset="0"/>
              </a:rPr>
              <a:t>Ethereum</a:t>
            </a:r>
            <a:r>
              <a:rPr lang="en-IN" sz="1400" dirty="0">
                <a:latin typeface="Times New Roman" pitchFamily="18" charset="0"/>
                <a:cs typeface="Times New Roman" pitchFamily="18" charset="0"/>
              </a:rPr>
              <a:t> Foundation. </a:t>
            </a:r>
            <a:r>
              <a:rPr lang="en-IN" sz="1400" dirty="0">
                <a:latin typeface="Times New Roman" pitchFamily="18" charset="0"/>
                <a:cs typeface="Times New Roman" pitchFamily="18" charset="0"/>
                <a:hlinkClick r:id="rId4"/>
              </a:rPr>
              <a:t>https://ethereum.org</a:t>
            </a:r>
            <a:endParaRPr lang="en-IN" sz="1400" dirty="0">
              <a:latin typeface="Times New Roman" pitchFamily="18" charset="0"/>
              <a:cs typeface="Times New Roman" pitchFamily="18" charset="0"/>
            </a:endParaRPr>
          </a:p>
          <a:p>
            <a:pPr marL="285750" indent="-285750" algn="just">
              <a:buFont typeface="Arial" pitchFamily="34" charset="0"/>
              <a:buChar char="•"/>
            </a:pPr>
            <a:r>
              <a:rPr lang="en-IN" sz="1400" dirty="0" err="1">
                <a:latin typeface="Times New Roman" pitchFamily="18" charset="0"/>
                <a:cs typeface="Times New Roman" pitchFamily="18" charset="0"/>
              </a:rPr>
              <a:t>Makhdoom</a:t>
            </a:r>
            <a:r>
              <a:rPr lang="en-IN" sz="1400" dirty="0">
                <a:latin typeface="Times New Roman" pitchFamily="18" charset="0"/>
                <a:cs typeface="Times New Roman" pitchFamily="18" charset="0"/>
              </a:rPr>
              <a:t>, I., Zhou, I., </a:t>
            </a:r>
            <a:r>
              <a:rPr lang="en-IN" sz="1400" dirty="0" err="1">
                <a:latin typeface="Times New Roman" pitchFamily="18" charset="0"/>
                <a:cs typeface="Times New Roman" pitchFamily="18" charset="0"/>
              </a:rPr>
              <a:t>Abolhasan</a:t>
            </a:r>
            <a:r>
              <a:rPr lang="en-IN" sz="1400" dirty="0">
                <a:latin typeface="Times New Roman" pitchFamily="18" charset="0"/>
                <a:cs typeface="Times New Roman" pitchFamily="18" charset="0"/>
              </a:rPr>
              <a:t>, M., </a:t>
            </a:r>
            <a:r>
              <a:rPr lang="en-IN" sz="1400" dirty="0" err="1">
                <a:latin typeface="Times New Roman" pitchFamily="18" charset="0"/>
                <a:cs typeface="Times New Roman" pitchFamily="18" charset="0"/>
              </a:rPr>
              <a:t>Lipman</a:t>
            </a:r>
            <a:r>
              <a:rPr lang="en-IN" sz="1400" dirty="0">
                <a:latin typeface="Times New Roman" pitchFamily="18" charset="0"/>
                <a:cs typeface="Times New Roman" pitchFamily="18" charset="0"/>
              </a:rPr>
              <a:t>, J., &amp; Ni, W. (2021). Blockchain for cybersecurity and the Internet of Things: Challenges, opportunities, and solutions. </a:t>
            </a:r>
            <a:r>
              <a:rPr lang="en-IN" sz="1400" i="1" dirty="0">
                <a:latin typeface="Times New Roman" pitchFamily="18" charset="0"/>
                <a:cs typeface="Times New Roman" pitchFamily="18" charset="0"/>
              </a:rPr>
              <a:t>IEEE Communications Surveys &amp; Tutorials</a:t>
            </a:r>
            <a:r>
              <a:rPr lang="en-IN" sz="1400" dirty="0">
                <a:latin typeface="Times New Roman" pitchFamily="18" charset="0"/>
                <a:cs typeface="Times New Roman" pitchFamily="18" charset="0"/>
              </a:rPr>
              <a:t>, 23(2), 1382–1408. </a:t>
            </a:r>
            <a:r>
              <a:rPr lang="en-IN" sz="1400" dirty="0">
                <a:latin typeface="Times New Roman" pitchFamily="18" charset="0"/>
                <a:cs typeface="Times New Roman" pitchFamily="18" charset="0"/>
                <a:hlinkClick r:id="rId5"/>
              </a:rPr>
              <a:t>https://doi.org/10.1109/COMST.2021.3054841</a:t>
            </a:r>
            <a:endParaRPr lang="en-IN" sz="1400" dirty="0">
              <a:latin typeface="Times New Roman" pitchFamily="18" charset="0"/>
              <a:cs typeface="Times New Roman" pitchFamily="18" charset="0"/>
            </a:endParaRPr>
          </a:p>
          <a:p>
            <a:pPr marL="285750" indent="-285750" algn="just">
              <a:buFont typeface="Arial" pitchFamily="34" charset="0"/>
              <a:buChar char="•"/>
            </a:pPr>
            <a:r>
              <a:rPr lang="en-IN" sz="1400" dirty="0" err="1">
                <a:latin typeface="Times New Roman" pitchFamily="18" charset="0"/>
                <a:cs typeface="Times New Roman" pitchFamily="18" charset="0"/>
              </a:rPr>
              <a:t>Christidis</a:t>
            </a:r>
            <a:r>
              <a:rPr lang="en-IN" sz="1400" dirty="0">
                <a:latin typeface="Times New Roman" pitchFamily="18" charset="0"/>
                <a:cs typeface="Times New Roman" pitchFamily="18" charset="0"/>
              </a:rPr>
              <a:t>, K., &amp; </a:t>
            </a:r>
            <a:r>
              <a:rPr lang="en-IN" sz="1400" dirty="0" err="1">
                <a:latin typeface="Times New Roman" pitchFamily="18" charset="0"/>
                <a:cs typeface="Times New Roman" pitchFamily="18" charset="0"/>
              </a:rPr>
              <a:t>Devetsikiotis</a:t>
            </a:r>
            <a:r>
              <a:rPr lang="en-IN" sz="1400" dirty="0">
                <a:latin typeface="Times New Roman" pitchFamily="18" charset="0"/>
                <a:cs typeface="Times New Roman" pitchFamily="18" charset="0"/>
              </a:rPr>
              <a:t>, M. (2016). </a:t>
            </a:r>
            <a:r>
              <a:rPr lang="en-IN" sz="1400" dirty="0" err="1">
                <a:latin typeface="Times New Roman" pitchFamily="18" charset="0"/>
                <a:cs typeface="Times New Roman" pitchFamily="18" charset="0"/>
              </a:rPr>
              <a:t>Blockchains</a:t>
            </a:r>
            <a:r>
              <a:rPr lang="en-IN" sz="1400" dirty="0">
                <a:latin typeface="Times New Roman" pitchFamily="18" charset="0"/>
                <a:cs typeface="Times New Roman" pitchFamily="18" charset="0"/>
              </a:rPr>
              <a:t> and smart contracts for the Internet of Things. </a:t>
            </a:r>
            <a:r>
              <a:rPr lang="en-IN" sz="1400" i="1" dirty="0">
                <a:latin typeface="Times New Roman" pitchFamily="18" charset="0"/>
                <a:cs typeface="Times New Roman" pitchFamily="18" charset="0"/>
              </a:rPr>
              <a:t>IEEE Access</a:t>
            </a:r>
            <a:r>
              <a:rPr lang="en-IN" sz="1400" dirty="0">
                <a:latin typeface="Times New Roman" pitchFamily="18" charset="0"/>
                <a:cs typeface="Times New Roman" pitchFamily="18" charset="0"/>
              </a:rPr>
              <a:t>, 4, 2292–2303. </a:t>
            </a:r>
            <a:r>
              <a:rPr lang="en-IN" sz="1400" dirty="0">
                <a:latin typeface="Times New Roman" pitchFamily="18" charset="0"/>
                <a:cs typeface="Times New Roman" pitchFamily="18" charset="0"/>
                <a:hlinkClick r:id="rId6"/>
              </a:rPr>
              <a:t>https://doi.org/10.1109/ACCESS.2016.2566339</a:t>
            </a:r>
            <a:endParaRPr lang="en-IN" sz="1400" dirty="0">
              <a:latin typeface="Times New Roman" pitchFamily="18" charset="0"/>
              <a:cs typeface="Times New Roman" pitchFamily="18" charset="0"/>
            </a:endParaRPr>
          </a:p>
          <a:p>
            <a:pPr marL="285750" indent="-285750" algn="just">
              <a:buFont typeface="Arial" pitchFamily="34" charset="0"/>
              <a:buChar char="•"/>
            </a:pPr>
            <a:r>
              <a:rPr lang="en-IN" sz="1400" dirty="0" err="1">
                <a:latin typeface="Times New Roman" pitchFamily="18" charset="0"/>
                <a:cs typeface="Times New Roman" pitchFamily="18" charset="0"/>
              </a:rPr>
              <a:t>Ouaddah</a:t>
            </a:r>
            <a:r>
              <a:rPr lang="en-IN" sz="1400" dirty="0">
                <a:latin typeface="Times New Roman" pitchFamily="18" charset="0"/>
                <a:cs typeface="Times New Roman" pitchFamily="18" charset="0"/>
              </a:rPr>
              <a:t>, A., </a:t>
            </a:r>
            <a:r>
              <a:rPr lang="en-IN" sz="1400" dirty="0" err="1">
                <a:latin typeface="Times New Roman" pitchFamily="18" charset="0"/>
                <a:cs typeface="Times New Roman" pitchFamily="18" charset="0"/>
              </a:rPr>
              <a:t>Elkalam</a:t>
            </a:r>
            <a:r>
              <a:rPr lang="en-IN" sz="1400" dirty="0">
                <a:latin typeface="Times New Roman" pitchFamily="18" charset="0"/>
                <a:cs typeface="Times New Roman" pitchFamily="18" charset="0"/>
              </a:rPr>
              <a:t>, A. A., &amp; </a:t>
            </a:r>
            <a:r>
              <a:rPr lang="en-IN" sz="1400" dirty="0" err="1">
                <a:latin typeface="Times New Roman" pitchFamily="18" charset="0"/>
                <a:cs typeface="Times New Roman" pitchFamily="18" charset="0"/>
              </a:rPr>
              <a:t>Ouahman</a:t>
            </a:r>
            <a:r>
              <a:rPr lang="en-IN" sz="1400" dirty="0">
                <a:latin typeface="Times New Roman" pitchFamily="18" charset="0"/>
                <a:cs typeface="Times New Roman" pitchFamily="18" charset="0"/>
              </a:rPr>
              <a:t>, A. A. (2022). </a:t>
            </a:r>
            <a:r>
              <a:rPr lang="en-IN" sz="1400" dirty="0" err="1">
                <a:latin typeface="Times New Roman" pitchFamily="18" charset="0"/>
                <a:cs typeface="Times New Roman" pitchFamily="18" charset="0"/>
              </a:rPr>
              <a:t>FairAccess</a:t>
            </a:r>
            <a:r>
              <a:rPr lang="en-IN" sz="1400" dirty="0">
                <a:latin typeface="Times New Roman" pitchFamily="18" charset="0"/>
                <a:cs typeface="Times New Roman" pitchFamily="18" charset="0"/>
              </a:rPr>
              <a:t>: A </a:t>
            </a:r>
            <a:r>
              <a:rPr lang="en-IN" sz="1400" dirty="0" err="1">
                <a:latin typeface="Times New Roman" pitchFamily="18" charset="0"/>
                <a:cs typeface="Times New Roman" pitchFamily="18" charset="0"/>
              </a:rPr>
              <a:t>blockchain</a:t>
            </a:r>
            <a:r>
              <a:rPr lang="en-IN" sz="1400" dirty="0">
                <a:latin typeface="Times New Roman" pitchFamily="18" charset="0"/>
                <a:cs typeface="Times New Roman" pitchFamily="18" charset="0"/>
              </a:rPr>
              <a:t>-based access control framework for </a:t>
            </a:r>
            <a:r>
              <a:rPr lang="en-IN" sz="1400" dirty="0" err="1">
                <a:latin typeface="Times New Roman" pitchFamily="18" charset="0"/>
                <a:cs typeface="Times New Roman" pitchFamily="18" charset="0"/>
              </a:rPr>
              <a:t>IoT</a:t>
            </a:r>
            <a:r>
              <a:rPr lang="en-IN" sz="1400" dirty="0">
                <a:latin typeface="Times New Roman" pitchFamily="18" charset="0"/>
                <a:cs typeface="Times New Roman" pitchFamily="18" charset="0"/>
              </a:rPr>
              <a:t>. </a:t>
            </a:r>
            <a:r>
              <a:rPr lang="en-IN" sz="1400" i="1" dirty="0">
                <a:latin typeface="Times New Roman" pitchFamily="18" charset="0"/>
                <a:cs typeface="Times New Roman" pitchFamily="18" charset="0"/>
              </a:rPr>
              <a:t>Future Generation Computer Systems</a:t>
            </a:r>
            <a:r>
              <a:rPr lang="en-IN" sz="1400" dirty="0">
                <a:latin typeface="Times New Roman" pitchFamily="18" charset="0"/>
                <a:cs typeface="Times New Roman" pitchFamily="18" charset="0"/>
              </a:rPr>
              <a:t>, 120, 62–77. </a:t>
            </a:r>
            <a:r>
              <a:rPr lang="en-IN" sz="1400" dirty="0">
                <a:latin typeface="Times New Roman" pitchFamily="18" charset="0"/>
                <a:cs typeface="Times New Roman" pitchFamily="18" charset="0"/>
                <a:hlinkClick r:id="rId7"/>
              </a:rPr>
              <a:t>https://doi.org/10.1016/j.future.2021.12.004</a:t>
            </a:r>
            <a:endParaRPr lang="en-IN" sz="1400" dirty="0">
              <a:latin typeface="Times New Roman" pitchFamily="18" charset="0"/>
              <a:cs typeface="Times New Roman" pitchFamily="18" charset="0"/>
            </a:endParaRPr>
          </a:p>
          <a:p>
            <a:pPr marL="285750" indent="-285750" algn="just">
              <a:buFont typeface="Arial" pitchFamily="34" charset="0"/>
              <a:buChar char="•"/>
            </a:pPr>
            <a:r>
              <a:rPr lang="en-IN" sz="1400" dirty="0">
                <a:latin typeface="Times New Roman" pitchFamily="18" charset="0"/>
                <a:cs typeface="Times New Roman" pitchFamily="18" charset="0"/>
              </a:rPr>
              <a:t>Singh, A., Sharma, P., &amp; Gupta, N. (2023). Enhancing Zero Trust Network Access using </a:t>
            </a:r>
            <a:r>
              <a:rPr lang="en-IN" sz="1400" dirty="0" err="1">
                <a:latin typeface="Times New Roman" pitchFamily="18" charset="0"/>
                <a:cs typeface="Times New Roman" pitchFamily="18" charset="0"/>
              </a:rPr>
              <a:t>blockchain</a:t>
            </a:r>
            <a:r>
              <a:rPr lang="en-IN" sz="1400" dirty="0">
                <a:latin typeface="Times New Roman" pitchFamily="18" charset="0"/>
                <a:cs typeface="Times New Roman" pitchFamily="18" charset="0"/>
              </a:rPr>
              <a:t>-based identity verification. </a:t>
            </a:r>
            <a:r>
              <a:rPr lang="en-IN" sz="1400" i="1" dirty="0">
                <a:latin typeface="Times New Roman" pitchFamily="18" charset="0"/>
                <a:cs typeface="Times New Roman" pitchFamily="18" charset="0"/>
              </a:rPr>
              <a:t>International Journal of Information Security Research</a:t>
            </a:r>
            <a:r>
              <a:rPr lang="en-IN" sz="1400" dirty="0">
                <a:latin typeface="Times New Roman" pitchFamily="18" charset="0"/>
                <a:cs typeface="Times New Roman" pitchFamily="18" charset="0"/>
              </a:rPr>
              <a:t>, 13(4), 214–223.</a:t>
            </a:r>
          </a:p>
          <a:p>
            <a:pPr marL="285750" indent="-285750" algn="just">
              <a:buFont typeface="Arial" pitchFamily="34" charset="0"/>
              <a:buChar char="•"/>
            </a:pPr>
            <a:r>
              <a:rPr lang="en-IN" sz="1400" dirty="0">
                <a:latin typeface="Times New Roman" pitchFamily="18" charset="0"/>
                <a:cs typeface="Times New Roman" pitchFamily="18" charset="0"/>
              </a:rPr>
              <a:t>Kong, L., Qin, Z., &amp; Li, F. (2024). A </a:t>
            </a:r>
            <a:r>
              <a:rPr lang="en-IN" sz="1400" dirty="0" err="1">
                <a:latin typeface="Times New Roman" pitchFamily="18" charset="0"/>
                <a:cs typeface="Times New Roman" pitchFamily="18" charset="0"/>
              </a:rPr>
              <a:t>blockchain</a:t>
            </a:r>
            <a:r>
              <a:rPr lang="en-IN" sz="1400" dirty="0">
                <a:latin typeface="Times New Roman" pitchFamily="18" charset="0"/>
                <a:cs typeface="Times New Roman" pitchFamily="18" charset="0"/>
              </a:rPr>
              <a:t>-enabled continuous authentication model for zero trust architectures. </a:t>
            </a:r>
            <a:r>
              <a:rPr lang="en-IN" sz="1400" i="1" dirty="0">
                <a:latin typeface="Times New Roman" pitchFamily="18" charset="0"/>
                <a:cs typeface="Times New Roman" pitchFamily="18" charset="0"/>
              </a:rPr>
              <a:t>IEEE Transactions on Dependable and Secure Computing</a:t>
            </a:r>
            <a:r>
              <a:rPr lang="en-IN" sz="1400" dirty="0">
                <a:latin typeface="Times New Roman" pitchFamily="18" charset="0"/>
                <a:cs typeface="Times New Roman" pitchFamily="18" charset="0"/>
              </a:rPr>
              <a:t>, 21(1), 89–102. </a:t>
            </a:r>
            <a:r>
              <a:rPr lang="en-IN" sz="1400" dirty="0">
                <a:latin typeface="Times New Roman" pitchFamily="18" charset="0"/>
                <a:cs typeface="Times New Roman" pitchFamily="18" charset="0"/>
                <a:hlinkClick r:id="rId8"/>
              </a:rPr>
              <a:t>https://doi.org/10.1109/TDSC.2023.3264920</a:t>
            </a:r>
            <a:endParaRPr lang="en-IN" sz="1400" dirty="0">
              <a:latin typeface="Times New Roman" pitchFamily="18" charset="0"/>
              <a:cs typeface="Times New Roman" pitchFamily="18" charset="0"/>
            </a:endParaRPr>
          </a:p>
          <a:p>
            <a:pPr marL="285750" indent="-285750" algn="just">
              <a:buFont typeface="Arial" pitchFamily="34" charset="0"/>
              <a:buChar char="•"/>
            </a:pPr>
            <a:r>
              <a:rPr lang="en-IN" sz="1400" dirty="0">
                <a:latin typeface="Times New Roman" pitchFamily="18" charset="0"/>
                <a:cs typeface="Times New Roman" pitchFamily="18" charset="0"/>
              </a:rPr>
              <a:t>Khan, M., </a:t>
            </a:r>
            <a:r>
              <a:rPr lang="en-IN" sz="1400" dirty="0" err="1">
                <a:latin typeface="Times New Roman" pitchFamily="18" charset="0"/>
                <a:cs typeface="Times New Roman" pitchFamily="18" charset="0"/>
              </a:rPr>
              <a:t>Rehman</a:t>
            </a:r>
            <a:r>
              <a:rPr lang="en-IN" sz="1400" dirty="0">
                <a:latin typeface="Times New Roman" pitchFamily="18" charset="0"/>
                <a:cs typeface="Times New Roman" pitchFamily="18" charset="0"/>
              </a:rPr>
              <a:t>, S., &amp; </a:t>
            </a:r>
            <a:r>
              <a:rPr lang="en-IN" sz="1400" dirty="0" err="1">
                <a:latin typeface="Times New Roman" pitchFamily="18" charset="0"/>
                <a:cs typeface="Times New Roman" pitchFamily="18" charset="0"/>
              </a:rPr>
              <a:t>Iqbal</a:t>
            </a:r>
            <a:r>
              <a:rPr lang="en-IN" sz="1400" dirty="0">
                <a:latin typeface="Times New Roman" pitchFamily="18" charset="0"/>
                <a:cs typeface="Times New Roman" pitchFamily="18" charset="0"/>
              </a:rPr>
              <a:t>, Z. (2023). Immutable audit trails using </a:t>
            </a:r>
            <a:r>
              <a:rPr lang="en-IN" sz="1400" dirty="0" err="1">
                <a:latin typeface="Times New Roman" pitchFamily="18" charset="0"/>
                <a:cs typeface="Times New Roman" pitchFamily="18" charset="0"/>
              </a:rPr>
              <a:t>blockchain</a:t>
            </a:r>
            <a:r>
              <a:rPr lang="en-IN" sz="1400" dirty="0">
                <a:latin typeface="Times New Roman" pitchFamily="18" charset="0"/>
                <a:cs typeface="Times New Roman" pitchFamily="18" charset="0"/>
              </a:rPr>
              <a:t> for enterprise access control. </a:t>
            </a:r>
            <a:r>
              <a:rPr lang="en-IN" sz="1400" i="1" dirty="0">
                <a:latin typeface="Times New Roman" pitchFamily="18" charset="0"/>
                <a:cs typeface="Times New Roman" pitchFamily="18" charset="0"/>
              </a:rPr>
              <a:t>Computers &amp; Security</a:t>
            </a:r>
            <a:r>
              <a:rPr lang="en-IN" sz="1400" dirty="0">
                <a:latin typeface="Times New Roman" pitchFamily="18" charset="0"/>
                <a:cs typeface="Times New Roman" pitchFamily="18" charset="0"/>
              </a:rPr>
              <a:t>, 128, 103201. https://doi.org/10.1016/j.cose.2023.103201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1041</TotalTime>
  <Words>1681</Words>
  <Application>Microsoft Office PowerPoint</Application>
  <PresentationFormat>On-screen Show (4:3)</PresentationFormat>
  <Paragraphs>195</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MADHULATHA REDDY</cp:lastModifiedBy>
  <cp:revision>53</cp:revision>
  <dcterms:created xsi:type="dcterms:W3CDTF">2006-08-16T00:00:00Z</dcterms:created>
  <dcterms:modified xsi:type="dcterms:W3CDTF">2026-03-13T07:21:27Z</dcterms:modified>
</cp:coreProperties>
</file>